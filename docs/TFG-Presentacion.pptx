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TFG Records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3C5FD"/>
                </a:solidFill>
                <a:latin typeface="Calibri"/>
              </a:defRPr>
            </a:pPr>
            <a:r>
              <a:t>Plataforma de Gestión de Expedientes Electrónicos Ciudadanos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747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FDBFE"/>
                </a:solidFill>
                <a:latin typeface="Calibri"/>
              </a:defRPr>
            </a:pPr>
            <a:r>
              <a:t>Firma Electrónica PAdES-BES</a:t>
            </a:r>
          </a:p>
          <a:p>
            <a:pPr>
              <a:spcAft>
                <a:spcPts val="800"/>
              </a:spcAft>
              <a:defRPr sz="1800">
                <a:solidFill>
                  <a:srgbClr val="BFDBFE"/>
                </a:solidFill>
                <a:latin typeface="Calibri"/>
              </a:defRPr>
            </a:pPr>
            <a:r>
              <a:t>Cumplimiento ENS Nivel Medio &amp; ENI</a:t>
            </a:r>
          </a:p>
          <a:p>
            <a:pPr>
              <a:spcAft>
                <a:spcPts val="800"/>
              </a:spcAft>
              <a:defRPr sz="1800">
                <a:solidFill>
                  <a:srgbClr val="BFDBFE"/>
                </a:solidFill>
                <a:latin typeface="Calibri"/>
              </a:defRPr>
            </a:pPr>
            <a:r>
              <a:t>Arquitectura Hexagonal · Spring Boot 3 · Angular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Trabajo de Fin de Máster —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Contexto y Objetivos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Problemática y alcance del proyecto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0574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Arquitectura del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Arquitectura hexagonal y stack tecnológico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7432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Firma Electrónica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Implementación PAdES con Bouncy Castle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4290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Seguridad y Cumplimiento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03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ENS Nivel Medio y ENI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1148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Resultados y Métricas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Tests, coverage y performance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800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Demo en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074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Flujo completo de firma electrónica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54864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60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Logros y trabajo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Contexto y Objetivos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Calibri"/>
              </a:defRPr>
            </a:pPr>
            <a:r>
              <a:t>📋 Contexto Normativo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▸ Ley 39/2015 — Procedimiento Administrativo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▸ Ley 40/2015 — Régimen Jurídico Sector Público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▸ RD 3/2010 — Esquema Nacional de Seguridad (ENS)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▸ RD 4/2010 — Esquema Nacional de Interoperabilidad (ENI)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▸ Reglamento eIDAS (UE) 910/2014 — Firma Electrónica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Calibri"/>
              </a:defRPr>
            </a:pPr>
            <a:r>
              <a:t>🎯 Objetivos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✅ Plataforma completa de expedientes electrónicos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✅ Firma electrónica PAdES-BES funcional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✅ Cumplimiento ENS Nivel Medio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✅ Cumplimiento ENI (metadatos, PDF/A)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✅ Arquitectura hexagonal documentada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✅ Internacionalización (5 idiomas oficiales)</a:t>
            </a:r>
          </a:p>
          <a:p>
            <a:pPr>
              <a:spcAft>
                <a:spcPts val="6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t>✅ Accesibilidad WCAG 2.1 AA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Ports &amp; Adapters — Separación clara entre dominio e infraestructura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645920"/>
            <a:ext cx="82296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Primary Adapters (Driving)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REST Controllers · BPMN Events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69280" y="2395728"/>
            <a:ext cx="548640" cy="2286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2560320"/>
            <a:ext cx="8229600" cy="73152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Use Case Services · DTOs · Mappers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669280" y="3310127"/>
            <a:ext cx="548640" cy="2286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0" y="3474720"/>
            <a:ext cx="82296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Domain Layer (Core)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519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Entities · Value Objects · Repository Ports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669280" y="4224528"/>
            <a:ext cx="548640" cy="2286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28800" y="4389120"/>
            <a:ext cx="8229600" cy="731520"/>
          </a:xfrm>
          <a:prstGeom prst="roundRect">
            <a:avLst/>
          </a:prstGeom>
          <a:solidFill>
            <a:srgbClr val="1D4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Secondary Adapters (Driven)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663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JPA Repositories · JWT · Bouncy Castle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669280" y="5138928"/>
            <a:ext cx="548640" cy="2286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800" y="5303520"/>
            <a:ext cx="8229600" cy="7315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0807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PostgreSQL · H2 · File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Ventajas: Testabilidad · Mantenibilidad · Flexibilidad · AI-Navigable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Stack Tecnológico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Spring Boot 3.4.5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Java 17 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Maven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347472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Angular 17+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Tailwind CSS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347472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PostgreSQL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H2 (dev)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Spring Data JPA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371600"/>
            <a:ext cx="347472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Flowable 7.0.1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BPMN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Process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017520"/>
            <a:ext cx="347472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Crypto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Bouncy Castle 1.78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CMS/PKCS#7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RSA 2048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663440"/>
            <a:ext cx="347472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7548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JUnit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3949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Mockito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6692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▸ k6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Firma Electrónica PAdES-BES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Implementación con Bouncy Castle — CMS/PKCS#7 detached signature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00400" cy="3200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🔐 Certificado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Algoritmo: RSA 2048-bit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Hash: SHA-256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Subject: CN=TFG Service Signing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Organization: O=TFG Records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Country: C=ES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Validez: 1 año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Tipo: PAdES-BES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7040880" cy="32004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📝 Flujo de Firma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1. Usuario sube PDF → POST /citizen/signatures/sign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2. SignatureService genera clave RSA 2048-bit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3. Crea certificado X.509 self-signed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4. CMSSignedDataGenerator genera firma CMS/PKCS#7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5. SHA256withRSA firma el contenido del PDF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6. Embed signature en trailer PDF (/Sig dictionary)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7. Retorna PDF firmado con descarga automática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⚡ ¿Por qué Bouncy Castle en lugar de SD-DSS?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SD-DSS (biblioteca oficial UE) versiones 5.11-5.13 no disponibles en Maven Central. Bouncy Castle proporciona funcionalidad equivalente para firma CMS/PKCS#7 sin problemas de dependencias.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Flujo de Firma — Diagrama de Secuencia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28016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Usuario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737360"/>
            <a:ext cx="18288" cy="4572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280160"/>
            <a:ext cx="128016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737360"/>
            <a:ext cx="18288" cy="4572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128016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SignatureService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737360"/>
            <a:ext cx="18288" cy="4572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280160"/>
            <a:ext cx="128016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Bouncy Castle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737360"/>
            <a:ext cx="18288" cy="4572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2103120"/>
            <a:ext cx="27432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041648" y="2048255"/>
            <a:ext cx="137160" cy="1371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187451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POST /sign (PDF)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651760"/>
            <a:ext cx="27432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6784848" y="2596896"/>
            <a:ext cx="137160" cy="1371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423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signDocument(byte[])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200400"/>
            <a:ext cx="27432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528048" y="3145536"/>
            <a:ext cx="13716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9718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KeyPairGenerator RSA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566160"/>
            <a:ext cx="27432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ft Arrow 24"/>
          <p:cNvSpPr/>
          <p:nvPr/>
        </p:nvSpPr>
        <p:spPr>
          <a:xfrm>
            <a:off x="9528048" y="3511296"/>
            <a:ext cx="137160" cy="13716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3375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KeyPair (2048-bit)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931920"/>
            <a:ext cx="27432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9528048" y="3877056"/>
            <a:ext cx="13716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37033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X509v3CertificateBuilder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4297680"/>
            <a:ext cx="27432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ft Arrow 30"/>
          <p:cNvSpPr/>
          <p:nvPr/>
        </p:nvSpPr>
        <p:spPr>
          <a:xfrm>
            <a:off x="9528048" y="4242816"/>
            <a:ext cx="137160" cy="13716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40690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X509Certificate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63440"/>
            <a:ext cx="27432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9528048" y="4608576"/>
            <a:ext cx="13716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44348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CMSSignedDataGenerator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029200"/>
            <a:ext cx="27432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9528048" y="4974336"/>
            <a:ext cx="137160" cy="13716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48006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CMSSignedData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1663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embedSignatureInPdf()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5760720"/>
            <a:ext cx="27432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6784848" y="5705856"/>
            <a:ext cx="137160" cy="1371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5532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byte[] signedPdf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6126480"/>
            <a:ext cx="27432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4041648" y="6071616"/>
            <a:ext cx="137160" cy="1371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80" y="58978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74151"/>
                </a:solidFill>
                <a:latin typeface="Calibri"/>
              </a:defRPr>
            </a:pPr>
            <a:r>
              <a:t>200 OK (PDF firmado)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Seguridad y Cumplimiento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ENS Nivel Medio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Autenticación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JWT access/refresh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031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488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Control de acceso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488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RBAC con Spring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1488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Auditoría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06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AuditLog inmutable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6060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63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Integridad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0632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Firma electrónica PAdES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0632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4747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204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Confidencialidad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5204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BCrypt cost=12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5204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9319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Disponibilidad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9776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Health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977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891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Trazabilidad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Correlation ID en 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434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463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Protección fuerza bruta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892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ENI — Interoperabilidad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16459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Metadatos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ENI Metadata 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21031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21488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Formato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1488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PDF/A vía LibreOffice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21488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25603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Identificador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606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UUID para documentos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26060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3017520"/>
            <a:ext cx="5029200" cy="411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3063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Trazabilidad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0632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Versionado de documentos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30632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Security Filter Chain: CorsFilter → RateLimit → JWT Auth → Authorization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Resultados y Métricas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543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0 fallos, 0 errores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Instrucciones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Cobertura JaCoCo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58%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Cobertura de branches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Domain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Coverage completo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Cobertura por Capa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Domain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49039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0" y="3749039"/>
            <a:ext cx="5486400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74903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050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Infrastructure Config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005072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0" y="4005072"/>
            <a:ext cx="5266944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005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611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Application Exception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261104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0" y="4261104"/>
            <a:ext cx="5047488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42611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171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Application Mapper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517136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4517136"/>
            <a:ext cx="4169663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5171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76%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73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Persistence Adapter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4773168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0" y="4773168"/>
            <a:ext cx="3511296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773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64%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Persistence Mapper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0" y="5029200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57600" y="5029200"/>
            <a:ext cx="3291840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5029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285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Persistence Entity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5285232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657600" y="5285232"/>
            <a:ext cx="3017520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5285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5412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Application DTO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0" y="5541264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57600" y="5541264"/>
            <a:ext cx="1865376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55412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34%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7972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Controller Layer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0" y="5797296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657600" y="5797296"/>
            <a:ext cx="1700784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57972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053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Application Service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0" y="6053328"/>
            <a:ext cx="5486400" cy="2011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657600" y="6053328"/>
            <a:ext cx="1316736" cy="20116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6053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151"/>
                </a:solidFill>
                <a:latin typeface="Calibri"/>
              </a:defRPr>
            </a:pPr>
            <a:r>
              <a:t>24%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Tests de Integración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37490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Health Check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3749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40050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Autenticación JWT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4005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42611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Info Certificado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42611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5171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Listar Procedimientos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45171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4773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Calcular Digest SHA-256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4773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Firmar Documento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5285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Verificar Firma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52852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✅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Flujo completo: Login → Expediente → Documento → Firma → Verificación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16459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151"/>
                </a:solidFill>
                <a:latin typeface="Calibri"/>
              </a:defRPr>
            </a:pPr>
            <a:r>
              <a:t>Autenticación JWT</a:t>
            </a:r>
            <a:br/>
            <a:r>
              <a:t>email: citizen@tfg.es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43200" y="1874519"/>
            <a:ext cx="27432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6459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37744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Calibri"/>
              </a:defRPr>
            </a:pPr>
            <a:r>
              <a:t>Crear Expediente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151"/>
                </a:solidFill>
                <a:latin typeface="Calibri"/>
              </a:defRPr>
            </a:pPr>
            <a:r>
              <a:t>Nuevo procedimiento</a:t>
            </a:r>
            <a:br/>
            <a:r>
              <a:t>Tipo: Licencia obras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37760" y="1874519"/>
            <a:ext cx="27432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59" y="16459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37744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Calibri"/>
              </a:defRPr>
            </a:pPr>
            <a:r>
              <a:t>Subir Documento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151"/>
                </a:solidFill>
                <a:latin typeface="Calibri"/>
              </a:defRPr>
            </a:pPr>
            <a:r>
              <a:t>Upload PDF</a:t>
            </a:r>
            <a:br/>
            <a:r>
              <a:t>Progreso en tiempo real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32320" y="1874519"/>
            <a:ext cx="27432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19" y="16459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199" y="237744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Calibri"/>
              </a:defRPr>
            </a:pPr>
            <a:r>
              <a:t>Firmar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151"/>
                </a:solidFill>
                <a:latin typeface="Calibri"/>
              </a:defRPr>
            </a:pPr>
            <a:r>
              <a:t>Click en "Firmar"</a:t>
            </a:r>
            <a:br/>
            <a:r>
              <a:t>PAdES-BES CMS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26880" y="1874519"/>
            <a:ext cx="27432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0" y="16459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237744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Calibri"/>
              </a:defRPr>
            </a:pPr>
            <a:r>
              <a:t>Verificar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151"/>
                </a:solidFill>
                <a:latin typeface="Calibri"/>
              </a:defRPr>
            </a:pPr>
            <a:r>
              <a:t>Click en "Verificar"</a:t>
            </a:r>
            <a:br/>
            <a:r>
              <a:t>Firma válida 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📸 Captura de pantalla: Interfaz de documentos con botones Firmar/Verificar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Badge "Firmado" visible · Iconos SVG · Spinner de carga · SweetAlert2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Internacionalización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5 idiomas oficiales de España · Frontend + Backend + Base de 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Calibri"/>
              </a:defRPr>
            </a:pPr>
            <a:r>
              <a:t>🇪🇸 Español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es-ES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  <a:latin typeface="Calibri"/>
              </a:defRPr>
            </a:pPr>
            <a:r>
              <a:t>"Gestión documental"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4592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Calibri"/>
              </a:defRPr>
            </a:pPr>
            <a:r>
              <a:t>🏴 Catalán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ca-ES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34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  <a:latin typeface="Calibri"/>
              </a:defRPr>
            </a:pPr>
            <a:r>
              <a:t>"Gestió documental"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64592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Calibri"/>
              </a:defRPr>
            </a:pPr>
            <a:r>
              <a:t>🏴 Euskera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eu-ES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834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  <a:latin typeface="Calibri"/>
              </a:defRPr>
            </a:pPr>
            <a:r>
              <a:t>"Dokumentuen kudeaketa"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199" y="164592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Calibri"/>
              </a:defRPr>
            </a:pPr>
            <a:r>
              <a:t>🏴 Gallego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gl-ES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834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  <a:latin typeface="Calibri"/>
              </a:defRPr>
            </a:pPr>
            <a:r>
              <a:t>"Xestión documental"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645920"/>
            <a:ext cx="201168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Calibri"/>
              </a:defRPr>
            </a:pPr>
            <a:r>
              <a:t>🏴 Valenciano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va-ES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834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  <a:latin typeface="Calibri"/>
              </a:defRPr>
            </a:pPr>
            <a:r>
              <a:t>"Gestió documental"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Implementación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▸ Frontend: ngx-translate con archivos JSON por idioma (es-ES, ca-ES, eu-ES, gl-ES, va-ES)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▸ Backend: Spring MessageSource con fallback a bundle por defecto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▸ Base de datos: Tablas de traducción para catálogo de procedimientos (procedure_type_i18n, procedure_task_field_i18n)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▸ Todos los textos de UI traducidos: botones, filtros, estados, mensajes de error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TFG Records Platform — Máster en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✅ Objetivos Cumplidos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Plataforma completa de expedientes electrónicos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Firma electrónica PAdES-BES funcional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Cumplimiento ENS Nivel Medio y ENI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Arquitectura hexagonal documentada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543 tests unitarios pasando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80% cobertura de instrucciones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Internacionalización en 5 idiomas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Accesibilidad WCAG 2.1 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💡 Aprendizajes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Arquitectura hexagonal facilita testabilidad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Bouncy Castle como alternativa a SD-DSS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Cobertura alta requiere disciplina constante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Spring Boot 3 requiere Jakarta EE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Testing de dominio más fácil de mantener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Documentación desde el inicio ahorra tiempo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🚀 Trabajo Futuro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Certificado CA-signed (FNMT) · PAdES-EPES completo · CI/CD pipeline · Monitoring Prometheus+Grafana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Email real (Brevo/SendGrid) · Backoffice completo · Tests E2E (Cypress) · Documentación OpenAPI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943600"/>
            <a:ext cx="667512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59618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¡Gracias! —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