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4494F3-82CE-4EBA-9992-94F936C03E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5CFEE-9091-402C-8342-001E3A3CA9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9A19D-4D6E-4834-88CC-3CE8EE9DCA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F75EB-DEE1-445F-9E84-0F4FFAB11C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FFA651-D2A0-42D4-9854-399025D110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4BB98-7B47-4564-9535-024F7EAB18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0DBCE2-C02D-4360-9F63-0AA2A1CF54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46D41C-0831-44A9-93CC-378ECCB09C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67B38-0619-47C0-923D-71AA419B20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E9D44-FFAE-4EB5-997D-4337F5130B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6A23A8-3556-420F-9C1B-027B551551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769FB-859C-444C-A24E-FFBE432EC5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&lt;fecha/hora&gt;</a:t>
            </a:r>
            <a:endParaRPr b="0" lang="es-E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E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DCC161-3DB4-43D0-84B0-3057E985C0D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Pulse para editar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el formato del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texto de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1"/>
          <p:cNvSpPr/>
          <p:nvPr/>
        </p:nvSpPr>
        <p:spPr>
          <a:xfrm>
            <a:off x="9448560" y="-1371600"/>
            <a:ext cx="4571640" cy="4571640"/>
          </a:xfrm>
          <a:prstGeom prst="ellipse">
            <a:avLst/>
          </a:prstGeom>
          <a:solidFill>
            <a:srgbClr val="1522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Oval 2"/>
          <p:cNvSpPr/>
          <p:nvPr/>
        </p:nvSpPr>
        <p:spPr>
          <a:xfrm>
            <a:off x="-1371600" y="4114800"/>
            <a:ext cx="4114440" cy="4114440"/>
          </a:xfrm>
          <a:prstGeom prst="ellipse">
            <a:avLst/>
          </a:prstGeom>
          <a:solidFill>
            <a:srgbClr val="1522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3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Rectangle 4"/>
          <p:cNvSpPr/>
          <p:nvPr/>
        </p:nvSpPr>
        <p:spPr>
          <a:xfrm>
            <a:off x="914400" y="2926080"/>
            <a:ext cx="228564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5"/>
          <p:cNvSpPr/>
          <p:nvPr/>
        </p:nvSpPr>
        <p:spPr>
          <a:xfrm>
            <a:off x="914400" y="1371600"/>
            <a:ext cx="100580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Plataforma de Gestión de</a:t>
            </a:r>
            <a:br>
              <a:rPr sz="4200"/>
            </a:b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Expedientes Electrónicos</a:t>
            </a:r>
            <a:endParaRPr b="0" lang="es-ES" sz="42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914400" y="3200400"/>
            <a:ext cx="10058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0a5fa"/>
                </a:solidFill>
                <a:latin typeface="Calibri"/>
              </a:rPr>
              <a:t>Cumplimiento ENS Nivel Medio · ENI · Firma Electrónica · BPMN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914400" y="438912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94a3b8"/>
                </a:solidFill>
                <a:latin typeface="Calibri"/>
              </a:rPr>
              <a:t>Trabajo Fin de Máster — Máster en desarrollo con IA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914400" y="475488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</a:rPr>
              <a:t>2026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0" y="6821280"/>
            <a:ext cx="1219140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Contexto y Motivación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Marco legal, problemática y objetivos del proyecto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53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Rounded Rectangle 9"/>
          <p:cNvSpPr/>
          <p:nvPr/>
        </p:nvSpPr>
        <p:spPr>
          <a:xfrm>
            <a:off x="548640" y="1463040"/>
            <a:ext cx="53031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Rectangle 10"/>
          <p:cNvSpPr/>
          <p:nvPr/>
        </p:nvSpPr>
        <p:spPr>
          <a:xfrm>
            <a:off x="822960" y="1463040"/>
            <a:ext cx="4754520" cy="36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Oval 11"/>
          <p:cNvSpPr/>
          <p:nvPr/>
        </p:nvSpPr>
        <p:spPr>
          <a:xfrm>
            <a:off x="822960" y="1645920"/>
            <a:ext cx="273960" cy="27396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⚠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1234440" y="164592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f4444"/>
                </a:solidFill>
                <a:latin typeface="Calibri"/>
              </a:rPr>
              <a:t>Problema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822960" y="2057400"/>
            <a:ext cx="4754520" cy="16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Los ciudadanos deben desplazarse físicamente para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iniciar y hacer seguimiento de trámites administrativos.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Falta de interoperabilidad entre sistemas de la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Administración Pública Española.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Los expedientes en papel carecen de trazabilidad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y mecanismos de auditoría continua.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63" name="Rounded Rectangle 14"/>
          <p:cNvSpPr/>
          <p:nvPr/>
        </p:nvSpPr>
        <p:spPr>
          <a:xfrm>
            <a:off x="6217920" y="1463040"/>
            <a:ext cx="53031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Rectangle 15"/>
          <p:cNvSpPr/>
          <p:nvPr/>
        </p:nvSpPr>
        <p:spPr>
          <a:xfrm>
            <a:off x="6492240" y="1463040"/>
            <a:ext cx="4754520" cy="36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Oval 16"/>
          <p:cNvSpPr/>
          <p:nvPr/>
        </p:nvSpPr>
        <p:spPr>
          <a:xfrm>
            <a:off x="6492240" y="1645920"/>
            <a:ext cx="273960" cy="27396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✔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66" name="TextBox 17"/>
          <p:cNvSpPr/>
          <p:nvPr/>
        </p:nvSpPr>
        <p:spPr>
          <a:xfrm>
            <a:off x="6903720" y="164592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Solución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6492240" y="2057400"/>
            <a:ext cx="4754520" cy="16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Sede electrónica accesible 24/7 desde cualquier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dispositivo con conexión a Internet.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Cumplimiento ENS (Nivel Medio) y ENI para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garantizar seguridad jurídica e interoperabilidad.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Expediente 100% digital con firma CMS/PKCS#7,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trazabilidad BPMN y auditoría inmutable.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68" name="Rounded Rectangle 19"/>
          <p:cNvSpPr/>
          <p:nvPr/>
        </p:nvSpPr>
        <p:spPr>
          <a:xfrm>
            <a:off x="548640" y="4023360"/>
            <a:ext cx="530316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Rectangle 20"/>
          <p:cNvSpPr/>
          <p:nvPr/>
        </p:nvSpPr>
        <p:spPr>
          <a:xfrm>
            <a:off x="822960" y="4023360"/>
            <a:ext cx="4754520" cy="36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Oval 21"/>
          <p:cNvSpPr/>
          <p:nvPr/>
        </p:nvSpPr>
        <p:spPr>
          <a:xfrm>
            <a:off x="822960" y="4206240"/>
            <a:ext cx="273960" cy="273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⚖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71" name="TextBox 22"/>
          <p:cNvSpPr/>
          <p:nvPr/>
        </p:nvSpPr>
        <p:spPr>
          <a:xfrm>
            <a:off x="1234440" y="420624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Marco Legal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72" name="TextBox 23"/>
          <p:cNvSpPr/>
          <p:nvPr/>
        </p:nvSpPr>
        <p:spPr>
          <a:xfrm>
            <a:off x="822960" y="4617720"/>
            <a:ext cx="47545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📜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Ley 39/2015 — Procedimiento Administrativo Común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📜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Ley 40/2015 — Régimen Jurídico del Sector Público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🔒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ENS — RD 311/2022 (Nivel Medio)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🔗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ENI — RD 4/2010 + Normas Técnicas Interoperabilidad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📝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Reglamento eIDAS — Firma electrónica cualificada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73" name="Rounded Rectangle 24"/>
          <p:cNvSpPr/>
          <p:nvPr/>
        </p:nvSpPr>
        <p:spPr>
          <a:xfrm>
            <a:off x="6217920" y="4023360"/>
            <a:ext cx="530316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25"/>
          <p:cNvSpPr/>
          <p:nvPr/>
        </p:nvSpPr>
        <p:spPr>
          <a:xfrm>
            <a:off x="6492240" y="4023360"/>
            <a:ext cx="475452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Oval 26"/>
          <p:cNvSpPr/>
          <p:nvPr/>
        </p:nvSpPr>
        <p:spPr>
          <a:xfrm>
            <a:off x="6492240" y="4206240"/>
            <a:ext cx="273960" cy="27396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⭐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76" name="TextBox 27"/>
          <p:cNvSpPr/>
          <p:nvPr/>
        </p:nvSpPr>
        <p:spPr>
          <a:xfrm>
            <a:off x="6903720" y="420624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Objetivos del TFG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77" name="TextBox 28"/>
          <p:cNvSpPr/>
          <p:nvPr/>
        </p:nvSpPr>
        <p:spPr>
          <a:xfrm>
            <a:off x="6492240" y="4617720"/>
            <a:ext cx="4754520" cy="16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🎯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Diseñar e implementar plataforma completa con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arquitectura hexagonal (Ports &amp; Adapters).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⚙️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Integrar motor de workflow BPMN (Flowable) para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automatizar los ciclos de tramitación.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🛡️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Garantizar ENS + ENI mediante auditoría, firmas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digitales y metadatos de interoperabilidad.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Arquitectura del Sistema — 11 Servicios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Docker Compose · Red aislada tfm-network · SSL termination con nginx centralizado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81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ounded Rectangle 9"/>
          <p:cNvSpPr/>
          <p:nvPr/>
        </p:nvSpPr>
        <p:spPr>
          <a:xfrm>
            <a:off x="457200" y="146304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Rectangle 10"/>
          <p:cNvSpPr/>
          <p:nvPr/>
        </p:nvSpPr>
        <p:spPr>
          <a:xfrm>
            <a:off x="457200" y="1463040"/>
            <a:ext cx="265140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Oval 11"/>
          <p:cNvSpPr/>
          <p:nvPr/>
        </p:nvSpPr>
        <p:spPr>
          <a:xfrm>
            <a:off x="640080" y="1645920"/>
            <a:ext cx="319680" cy="3196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🛢️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1097280" y="164592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</a:rPr>
              <a:t>PostgreSQL 16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1097280" y="210312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Base de datos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principal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91" name="Rounded Rectangle 14"/>
          <p:cNvSpPr/>
          <p:nvPr/>
        </p:nvSpPr>
        <p:spPr>
          <a:xfrm>
            <a:off x="3291840" y="146304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ectangle 15"/>
          <p:cNvSpPr/>
          <p:nvPr/>
        </p:nvSpPr>
        <p:spPr>
          <a:xfrm>
            <a:off x="3291840" y="1463040"/>
            <a:ext cx="265140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Oval 16"/>
          <p:cNvSpPr/>
          <p:nvPr/>
        </p:nvSpPr>
        <p:spPr>
          <a:xfrm>
            <a:off x="3474720" y="1645920"/>
            <a:ext cx="319680" cy="319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☕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3931920" y="1645920"/>
            <a:ext cx="1828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b82f6"/>
                </a:solidFill>
                <a:latin typeface="Calibri"/>
              </a:rPr>
              <a:t>Spring Boot 3.4</a:t>
            </a:r>
            <a:br>
              <a:rPr sz="1200"/>
            </a:br>
            <a:r>
              <a:rPr b="1" lang="en-US" sz="1200" spc="-1" strike="noStrike">
                <a:solidFill>
                  <a:srgbClr val="3b82f6"/>
                </a:solidFill>
                <a:latin typeface="Calibri"/>
              </a:rPr>
              <a:t>(Backend API)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95" name="TextBox 18"/>
          <p:cNvSpPr/>
          <p:nvPr/>
        </p:nvSpPr>
        <p:spPr>
          <a:xfrm>
            <a:off x="3931920" y="210312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Lógica de negocio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Hexagonal + REST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96" name="Rounded Rectangle 19"/>
          <p:cNvSpPr/>
          <p:nvPr/>
        </p:nvSpPr>
        <p:spPr>
          <a:xfrm>
            <a:off x="6126480" y="146304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Rectangle 20"/>
          <p:cNvSpPr/>
          <p:nvPr/>
        </p:nvSpPr>
        <p:spPr>
          <a:xfrm>
            <a:off x="6126480" y="1463040"/>
            <a:ext cx="2651400" cy="54360"/>
          </a:xfrm>
          <a:prstGeom prst="rect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Oval 21"/>
          <p:cNvSpPr/>
          <p:nvPr/>
        </p:nvSpPr>
        <p:spPr>
          <a:xfrm>
            <a:off x="6309360" y="1645920"/>
            <a:ext cx="319680" cy="319680"/>
          </a:xfrm>
          <a:prstGeom prst="ellipse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🖥️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99" name="TextBox 22"/>
          <p:cNvSpPr/>
          <p:nvPr/>
        </p:nvSpPr>
        <p:spPr>
          <a:xfrm>
            <a:off x="6766560" y="1645920"/>
            <a:ext cx="1828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dd3030"/>
                </a:solidFill>
                <a:latin typeface="Calibri"/>
              </a:rPr>
              <a:t>Angular 20</a:t>
            </a:r>
            <a:br>
              <a:rPr sz="1200"/>
            </a:br>
            <a:r>
              <a:rPr b="1" lang="en-US" sz="1200" spc="-1" strike="noStrike">
                <a:solidFill>
                  <a:srgbClr val="dd3030"/>
                </a:solidFill>
                <a:latin typeface="Calibri"/>
              </a:rPr>
              <a:t>(Frontend)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6766560" y="210312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Sede ciudadana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Portal público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01" name="Rounded Rectangle 24"/>
          <p:cNvSpPr/>
          <p:nvPr/>
        </p:nvSpPr>
        <p:spPr>
          <a:xfrm>
            <a:off x="8961120" y="146304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25"/>
          <p:cNvSpPr/>
          <p:nvPr/>
        </p:nvSpPr>
        <p:spPr>
          <a:xfrm>
            <a:off x="8961120" y="1463040"/>
            <a:ext cx="2651400" cy="54360"/>
          </a:xfrm>
          <a:prstGeom prst="rect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Oval 26"/>
          <p:cNvSpPr/>
          <p:nvPr/>
        </p:nvSpPr>
        <p:spPr>
          <a:xfrm>
            <a:off x="9144000" y="1645920"/>
            <a:ext cx="319680" cy="319680"/>
          </a:xfrm>
          <a:prstGeom prst="ellipse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🖥️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04" name="TextBox 27"/>
          <p:cNvSpPr/>
          <p:nvPr/>
        </p:nvSpPr>
        <p:spPr>
          <a:xfrm>
            <a:off x="9601200" y="1645920"/>
            <a:ext cx="1828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dd3030"/>
                </a:solidFill>
                <a:latin typeface="Calibri"/>
              </a:rPr>
              <a:t>Angular 20</a:t>
            </a:r>
            <a:br>
              <a:rPr sz="1200"/>
            </a:br>
            <a:r>
              <a:rPr b="1" lang="en-US" sz="1200" spc="-1" strike="noStrike">
                <a:solidFill>
                  <a:srgbClr val="dd3030"/>
                </a:solidFill>
                <a:latin typeface="Calibri"/>
              </a:rPr>
              <a:t>(Backoffice)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05" name="TextBox 28"/>
          <p:cNvSpPr/>
          <p:nvPr/>
        </p:nvSpPr>
        <p:spPr>
          <a:xfrm>
            <a:off x="9601200" y="210312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Gestión interna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Tramitadores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06" name="Rounded Rectangle 29"/>
          <p:cNvSpPr/>
          <p:nvPr/>
        </p:nvSpPr>
        <p:spPr>
          <a:xfrm>
            <a:off x="457200" y="320040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30"/>
          <p:cNvSpPr/>
          <p:nvPr/>
        </p:nvSpPr>
        <p:spPr>
          <a:xfrm>
            <a:off x="457200" y="3200400"/>
            <a:ext cx="2651400" cy="54360"/>
          </a:xfrm>
          <a:prstGeom prst="rect">
            <a:avLst/>
          </a:prstGeom>
          <a:solidFill>
            <a:srgbClr val="009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Oval 31"/>
          <p:cNvSpPr/>
          <p:nvPr/>
        </p:nvSpPr>
        <p:spPr>
          <a:xfrm>
            <a:off x="640080" y="3383280"/>
            <a:ext cx="319680" cy="319680"/>
          </a:xfrm>
          <a:prstGeom prst="ellipse">
            <a:avLst/>
          </a:prstGeom>
          <a:solidFill>
            <a:srgbClr val="009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🌐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09" name="TextBox 32"/>
          <p:cNvSpPr/>
          <p:nvPr/>
        </p:nvSpPr>
        <p:spPr>
          <a:xfrm>
            <a:off x="1097280" y="338328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9000"/>
                </a:solidFill>
                <a:latin typeface="Calibri"/>
              </a:rPr>
              <a:t>nginx 1.25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10" name="TextBox 33"/>
          <p:cNvSpPr/>
          <p:nvPr/>
        </p:nvSpPr>
        <p:spPr>
          <a:xfrm>
            <a:off x="1097280" y="384048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Reverse proxy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SSL + caché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11" name="Rounded Rectangle 34"/>
          <p:cNvSpPr/>
          <p:nvPr/>
        </p:nvSpPr>
        <p:spPr>
          <a:xfrm>
            <a:off x="3291840" y="320040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35"/>
          <p:cNvSpPr/>
          <p:nvPr/>
        </p:nvSpPr>
        <p:spPr>
          <a:xfrm>
            <a:off x="3291840" y="3200400"/>
            <a:ext cx="265140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Oval 36"/>
          <p:cNvSpPr/>
          <p:nvPr/>
        </p:nvSpPr>
        <p:spPr>
          <a:xfrm>
            <a:off x="3474720" y="3383280"/>
            <a:ext cx="319680" cy="3196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📧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14" name="TextBox 37"/>
          <p:cNvSpPr/>
          <p:nvPr/>
        </p:nvSpPr>
        <p:spPr>
          <a:xfrm>
            <a:off x="3931920" y="338328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Mailpit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15" name="TextBox 38"/>
          <p:cNvSpPr/>
          <p:nvPr/>
        </p:nvSpPr>
        <p:spPr>
          <a:xfrm>
            <a:off x="3931920" y="384048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SMTP local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UI de correos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16" name="Rounded Rectangle 39"/>
          <p:cNvSpPr/>
          <p:nvPr/>
        </p:nvSpPr>
        <p:spPr>
          <a:xfrm>
            <a:off x="6126480" y="320040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ectangle 40"/>
          <p:cNvSpPr/>
          <p:nvPr/>
        </p:nvSpPr>
        <p:spPr>
          <a:xfrm>
            <a:off x="6126480" y="3200400"/>
            <a:ext cx="2651400" cy="54360"/>
          </a:xfrm>
          <a:prstGeom prst="rect">
            <a:avLst/>
          </a:prstGeom>
          <a:solidFill>
            <a:srgbClr val="f46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Oval 41"/>
          <p:cNvSpPr/>
          <p:nvPr/>
        </p:nvSpPr>
        <p:spPr>
          <a:xfrm>
            <a:off x="6309360" y="3383280"/>
            <a:ext cx="319680" cy="319680"/>
          </a:xfrm>
          <a:prstGeom prst="ellipse">
            <a:avLst/>
          </a:prstGeom>
          <a:solidFill>
            <a:srgbClr val="f468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📊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19" name="TextBox 42"/>
          <p:cNvSpPr/>
          <p:nvPr/>
        </p:nvSpPr>
        <p:spPr>
          <a:xfrm>
            <a:off x="6766560" y="338328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46800"/>
                </a:solidFill>
                <a:latin typeface="Calibri"/>
              </a:rPr>
              <a:t>Grafana 11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20" name="TextBox 43"/>
          <p:cNvSpPr/>
          <p:nvPr/>
        </p:nvSpPr>
        <p:spPr>
          <a:xfrm>
            <a:off x="6766560" y="384048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Dashboards de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observabilidad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21" name="Rounded Rectangle 44"/>
          <p:cNvSpPr/>
          <p:nvPr/>
        </p:nvSpPr>
        <p:spPr>
          <a:xfrm>
            <a:off x="8961120" y="320040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Rectangle 45"/>
          <p:cNvSpPr/>
          <p:nvPr/>
        </p:nvSpPr>
        <p:spPr>
          <a:xfrm>
            <a:off x="8961120" y="3200400"/>
            <a:ext cx="2651400" cy="5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Oval 46"/>
          <p:cNvSpPr/>
          <p:nvPr/>
        </p:nvSpPr>
        <p:spPr>
          <a:xfrm>
            <a:off x="9144000" y="3383280"/>
            <a:ext cx="319680" cy="3196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📋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24" name="TextBox 47"/>
          <p:cNvSpPr/>
          <p:nvPr/>
        </p:nvSpPr>
        <p:spPr>
          <a:xfrm>
            <a:off x="9601200" y="338328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5cf6"/>
                </a:solidFill>
                <a:latin typeface="Calibri"/>
              </a:rPr>
              <a:t>Loki 3.0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25" name="TextBox 48"/>
          <p:cNvSpPr/>
          <p:nvPr/>
        </p:nvSpPr>
        <p:spPr>
          <a:xfrm>
            <a:off x="9601200" y="384048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Agregación de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logs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26" name="Rounded Rectangle 49"/>
          <p:cNvSpPr/>
          <p:nvPr/>
        </p:nvSpPr>
        <p:spPr>
          <a:xfrm>
            <a:off x="457200" y="493776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Rectangle 50"/>
          <p:cNvSpPr/>
          <p:nvPr/>
        </p:nvSpPr>
        <p:spPr>
          <a:xfrm>
            <a:off x="457200" y="4937760"/>
            <a:ext cx="2651400" cy="54360"/>
          </a:xfrm>
          <a:prstGeom prst="rect">
            <a:avLst/>
          </a:prstGeom>
          <a:solidFill>
            <a:srgbClr val="e652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Oval 51"/>
          <p:cNvSpPr/>
          <p:nvPr/>
        </p:nvSpPr>
        <p:spPr>
          <a:xfrm>
            <a:off x="640080" y="5120640"/>
            <a:ext cx="319680" cy="319680"/>
          </a:xfrm>
          <a:prstGeom prst="ellipse">
            <a:avLst/>
          </a:prstGeom>
          <a:solidFill>
            <a:srgbClr val="e652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📈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29" name="TextBox 52"/>
          <p:cNvSpPr/>
          <p:nvPr/>
        </p:nvSpPr>
        <p:spPr>
          <a:xfrm>
            <a:off x="1097280" y="512064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e65200"/>
                </a:solidFill>
                <a:latin typeface="Calibri"/>
              </a:rPr>
              <a:t>Prometheus 2.53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30" name="TextBox 53"/>
          <p:cNvSpPr/>
          <p:nvPr/>
        </p:nvSpPr>
        <p:spPr>
          <a:xfrm>
            <a:off x="1097280" y="557784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Métricas del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sistema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31" name="Rounded Rectangle 54"/>
          <p:cNvSpPr/>
          <p:nvPr/>
        </p:nvSpPr>
        <p:spPr>
          <a:xfrm>
            <a:off x="3291840" y="493776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Rectangle 55"/>
          <p:cNvSpPr/>
          <p:nvPr/>
        </p:nvSpPr>
        <p:spPr>
          <a:xfrm>
            <a:off x="3291840" y="4937760"/>
            <a:ext cx="2651400" cy="5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Oval 56"/>
          <p:cNvSpPr/>
          <p:nvPr/>
        </p:nvSpPr>
        <p:spPr>
          <a:xfrm>
            <a:off x="3474720" y="5120640"/>
            <a:ext cx="319680" cy="3196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📝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34" name="TextBox 57"/>
          <p:cNvSpPr/>
          <p:nvPr/>
        </p:nvSpPr>
        <p:spPr>
          <a:xfrm>
            <a:off x="3931920" y="512064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5cf6"/>
                </a:solidFill>
                <a:latin typeface="Calibri"/>
              </a:rPr>
              <a:t>Promtail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35" name="TextBox 58"/>
          <p:cNvSpPr/>
          <p:nvPr/>
        </p:nvSpPr>
        <p:spPr>
          <a:xfrm>
            <a:off x="3931920" y="557784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Recolección de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logs Docker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36" name="Rounded Rectangle 59"/>
          <p:cNvSpPr/>
          <p:nvPr/>
        </p:nvSpPr>
        <p:spPr>
          <a:xfrm>
            <a:off x="6126480" y="4937760"/>
            <a:ext cx="265140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60"/>
          <p:cNvSpPr/>
          <p:nvPr/>
        </p:nvSpPr>
        <p:spPr>
          <a:xfrm>
            <a:off x="6126480" y="4937760"/>
            <a:ext cx="2651400" cy="5436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Oval 61"/>
          <p:cNvSpPr/>
          <p:nvPr/>
        </p:nvSpPr>
        <p:spPr>
          <a:xfrm>
            <a:off x="6309360" y="5120640"/>
            <a:ext cx="319680" cy="319680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📦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39" name="TextBox 62"/>
          <p:cNvSpPr/>
          <p:nvPr/>
        </p:nvSpPr>
        <p:spPr>
          <a:xfrm>
            <a:off x="6766560" y="512064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64748b"/>
                </a:solidFill>
                <a:latin typeface="Calibri"/>
              </a:rPr>
              <a:t>cAdvisor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40" name="TextBox 63"/>
          <p:cNvSpPr/>
          <p:nvPr/>
        </p:nvSpPr>
        <p:spPr>
          <a:xfrm>
            <a:off x="6766560" y="557784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Métricas de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contenedores</a:t>
            </a:r>
            <a:endParaRPr b="0" lang="es-E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Arquitectura Hexagonal (Ports &amp; Adapters)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Separación estricta por capas con reglas de dependencia — ADR-0007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144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ounded Rectangle 9"/>
          <p:cNvSpPr/>
          <p:nvPr/>
        </p:nvSpPr>
        <p:spPr>
          <a:xfrm>
            <a:off x="490680" y="1463040"/>
            <a:ext cx="265140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Rectangle 10"/>
          <p:cNvSpPr/>
          <p:nvPr/>
        </p:nvSpPr>
        <p:spPr>
          <a:xfrm>
            <a:off x="490680" y="1463040"/>
            <a:ext cx="2651400" cy="5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1" name="Oval 11"/>
          <p:cNvSpPr/>
          <p:nvPr/>
        </p:nvSpPr>
        <p:spPr>
          <a:xfrm>
            <a:off x="1633680" y="1691640"/>
            <a:ext cx="365400" cy="365400"/>
          </a:xfrm>
          <a:prstGeom prst="ellipse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Segoe UI Emoji"/>
              </a:rPr>
              <a:t>🎯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627840" y="2194560"/>
            <a:ext cx="2377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e293b"/>
                </a:solidFill>
                <a:latin typeface="Calibri"/>
              </a:rPr>
              <a:t>domain/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53" name="TextBox 13"/>
          <p:cNvSpPr/>
          <p:nvPr/>
        </p:nvSpPr>
        <p:spPr>
          <a:xfrm>
            <a:off x="627840" y="2514600"/>
            <a:ext cx="2377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Núcleo puro de negocio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673560" y="3017520"/>
            <a:ext cx="228564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Modelos: Procedure, Document, User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Puertos: interfaces de repositorio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100% coverage obligatorio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Sin dependencias de frameworks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55" name="Rounded Rectangle 15"/>
          <p:cNvSpPr/>
          <p:nvPr/>
        </p:nvSpPr>
        <p:spPr>
          <a:xfrm>
            <a:off x="3343680" y="1463040"/>
            <a:ext cx="265140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Rectangle 16"/>
          <p:cNvSpPr/>
          <p:nvPr/>
        </p:nvSpPr>
        <p:spPr>
          <a:xfrm>
            <a:off x="3343680" y="1463040"/>
            <a:ext cx="265140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Oval 17"/>
          <p:cNvSpPr/>
          <p:nvPr/>
        </p:nvSpPr>
        <p:spPr>
          <a:xfrm>
            <a:off x="4486680" y="1691640"/>
            <a:ext cx="365400" cy="3654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Segoe UI Emoji"/>
              </a:rPr>
              <a:t>⚙️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3480840" y="2194560"/>
            <a:ext cx="2377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application/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59" name="TextBox 19"/>
          <p:cNvSpPr/>
          <p:nvPr/>
        </p:nvSpPr>
        <p:spPr>
          <a:xfrm>
            <a:off x="3480840" y="2514600"/>
            <a:ext cx="2377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Casos de uso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60" name="TextBox 20"/>
          <p:cNvSpPr/>
          <p:nvPr/>
        </p:nvSpPr>
        <p:spPr>
          <a:xfrm>
            <a:off x="3526560" y="3017520"/>
            <a:ext cx="22856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25 servicios: CaseService,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SignatureService, EniMetadata,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WorkflowService, Registry...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DTOs, mappers, excepciones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61" name="Rounded Rectangle 21"/>
          <p:cNvSpPr/>
          <p:nvPr/>
        </p:nvSpPr>
        <p:spPr>
          <a:xfrm>
            <a:off x="6196320" y="1463040"/>
            <a:ext cx="265140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Rectangle 22"/>
          <p:cNvSpPr/>
          <p:nvPr/>
        </p:nvSpPr>
        <p:spPr>
          <a:xfrm>
            <a:off x="6196320" y="1463040"/>
            <a:ext cx="265140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Oval 23"/>
          <p:cNvSpPr/>
          <p:nvPr/>
        </p:nvSpPr>
        <p:spPr>
          <a:xfrm>
            <a:off x="7339320" y="1691640"/>
            <a:ext cx="365400" cy="36540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Segoe UI Emoji"/>
              </a:rPr>
              <a:t>🔌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6333480" y="2194560"/>
            <a:ext cx="2377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infrastructure/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65" name="TextBox 25"/>
          <p:cNvSpPr/>
          <p:nvPr/>
        </p:nvSpPr>
        <p:spPr>
          <a:xfrm>
            <a:off x="6333480" y="2514600"/>
            <a:ext cx="2377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Adaptadores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66" name="TextBox 26"/>
          <p:cNvSpPr/>
          <p:nvPr/>
        </p:nvSpPr>
        <p:spPr>
          <a:xfrm>
            <a:off x="6379200" y="3017520"/>
            <a:ext cx="228564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26 entidades JPA + Spring Data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Seguridad: JWT, BCrypt, RateLimit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Storage local, mailing SMTP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Auditoría async event-driven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67" name="Rounded Rectangle 27"/>
          <p:cNvSpPr/>
          <p:nvPr/>
        </p:nvSpPr>
        <p:spPr>
          <a:xfrm>
            <a:off x="9049320" y="1463040"/>
            <a:ext cx="265140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Rectangle 28"/>
          <p:cNvSpPr/>
          <p:nvPr/>
        </p:nvSpPr>
        <p:spPr>
          <a:xfrm>
            <a:off x="9049320" y="1463040"/>
            <a:ext cx="265140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Oval 29"/>
          <p:cNvSpPr/>
          <p:nvPr/>
        </p:nvSpPr>
        <p:spPr>
          <a:xfrm>
            <a:off x="10192320" y="1691640"/>
            <a:ext cx="365400" cy="365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Segoe UI Emoji"/>
              </a:rPr>
              <a:t>🌐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70" name="TextBox 30"/>
          <p:cNvSpPr/>
          <p:nvPr/>
        </p:nvSpPr>
        <p:spPr>
          <a:xfrm>
            <a:off x="9186480" y="2194560"/>
            <a:ext cx="2377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entrypoints/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71" name="TextBox 31"/>
          <p:cNvSpPr/>
          <p:nvPr/>
        </p:nvSpPr>
        <p:spPr>
          <a:xfrm>
            <a:off x="9186480" y="2514600"/>
            <a:ext cx="2377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Controladores REST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172" name="TextBox 32"/>
          <p:cNvSpPr/>
          <p:nvPr/>
        </p:nvSpPr>
        <p:spPr>
          <a:xfrm>
            <a:off x="9232200" y="3017520"/>
            <a:ext cx="22856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16 controladores REST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OpenAPI/Swagger (Springdoc 2.8)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GlobalExceptionHandler (8 tipos)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Spring Security filter chain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Tech Stack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Tecnologías clave del ecosistema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176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Rounded Rectangle 9"/>
          <p:cNvSpPr/>
          <p:nvPr/>
        </p:nvSpPr>
        <p:spPr>
          <a:xfrm>
            <a:off x="426600" y="1371600"/>
            <a:ext cx="269712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ectangle 10"/>
          <p:cNvSpPr/>
          <p:nvPr/>
        </p:nvSpPr>
        <p:spPr>
          <a:xfrm>
            <a:off x="426600" y="1371600"/>
            <a:ext cx="269712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Oval 11"/>
          <p:cNvSpPr/>
          <p:nvPr/>
        </p:nvSpPr>
        <p:spPr>
          <a:xfrm>
            <a:off x="609480" y="1554480"/>
            <a:ext cx="319680" cy="319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☕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1066680" y="1554480"/>
            <a:ext cx="1874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Backend API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609480" y="2103120"/>
            <a:ext cx="2331360" cy="20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Java 17 · Spring Boot 3.4.5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Spring Security 6 · JWT (jjwt 0.12)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Flowable 7.0.1 (BPMN 2.0)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JPA / Hibernate + PostgreSQL 16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Bouncy Castle 1.84 (CMS/PKCS#7)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JODConverter + LibreOffice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OpenPDF · ZXing · Caffeine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86" name="Rounded Rectangle 14"/>
          <p:cNvSpPr/>
          <p:nvPr/>
        </p:nvSpPr>
        <p:spPr>
          <a:xfrm>
            <a:off x="3306960" y="1371600"/>
            <a:ext cx="269712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Rectangle 15"/>
          <p:cNvSpPr/>
          <p:nvPr/>
        </p:nvSpPr>
        <p:spPr>
          <a:xfrm>
            <a:off x="3306960" y="1371600"/>
            <a:ext cx="2697120" cy="54360"/>
          </a:xfrm>
          <a:prstGeom prst="rect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Oval 16"/>
          <p:cNvSpPr/>
          <p:nvPr/>
        </p:nvSpPr>
        <p:spPr>
          <a:xfrm>
            <a:off x="3489840" y="1554480"/>
            <a:ext cx="319680" cy="319680"/>
          </a:xfrm>
          <a:prstGeom prst="ellipse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🖥️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3947040" y="1554480"/>
            <a:ext cx="1874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dd3030"/>
                </a:solidFill>
                <a:latin typeface="Calibri"/>
              </a:rPr>
              <a:t>Frontend Ciudadano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90" name="TextBox 18"/>
          <p:cNvSpPr/>
          <p:nvPr/>
        </p:nvSpPr>
        <p:spPr>
          <a:xfrm>
            <a:off x="3489840" y="2103120"/>
            <a:ext cx="233136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Angular 20.3 · TypeScript 5.x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Angular Material CDK 20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Tailwind CSS 3.4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ngx-translate (5 idiomas)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RxJS 7 · Zone.js 0.15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jsPDF · SweetAlert2 · intro.js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Playwright + Jasmine/Karma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91" name="Rounded Rectangle 19"/>
          <p:cNvSpPr/>
          <p:nvPr/>
        </p:nvSpPr>
        <p:spPr>
          <a:xfrm>
            <a:off x="6187320" y="1371600"/>
            <a:ext cx="269712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Rectangle 20"/>
          <p:cNvSpPr/>
          <p:nvPr/>
        </p:nvSpPr>
        <p:spPr>
          <a:xfrm>
            <a:off x="6187320" y="1371600"/>
            <a:ext cx="2697120" cy="54360"/>
          </a:xfrm>
          <a:prstGeom prst="rect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Oval 21"/>
          <p:cNvSpPr/>
          <p:nvPr/>
        </p:nvSpPr>
        <p:spPr>
          <a:xfrm>
            <a:off x="6370200" y="1554480"/>
            <a:ext cx="319680" cy="319680"/>
          </a:xfrm>
          <a:prstGeom prst="ellipse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🖥️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94" name="TextBox 22"/>
          <p:cNvSpPr/>
          <p:nvPr/>
        </p:nvSpPr>
        <p:spPr>
          <a:xfrm>
            <a:off x="6827400" y="1554480"/>
            <a:ext cx="1874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dd3030"/>
                </a:solidFill>
                <a:latin typeface="Calibri"/>
              </a:rPr>
              <a:t>Frontend Backoffice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95" name="TextBox 23"/>
          <p:cNvSpPr/>
          <p:nvPr/>
        </p:nvSpPr>
        <p:spPr>
          <a:xfrm>
            <a:off x="6370200" y="2103120"/>
            <a:ext cx="233136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Angular 20.3 · TypeScript 5.x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Angular Material + Tailwind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Chart.js 4.4 + ng2-charts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Dashboard métricas tiempo real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Gestión tareas + expedientes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Playwright + Jasmine/Karma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ESLint + SonarJS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96" name="Rounded Rectangle 24"/>
          <p:cNvSpPr/>
          <p:nvPr/>
        </p:nvSpPr>
        <p:spPr>
          <a:xfrm>
            <a:off x="9067680" y="1371600"/>
            <a:ext cx="269712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Rectangle 25"/>
          <p:cNvSpPr/>
          <p:nvPr/>
        </p:nvSpPr>
        <p:spPr>
          <a:xfrm>
            <a:off x="9067680" y="1371600"/>
            <a:ext cx="2697120" cy="54360"/>
          </a:xfrm>
          <a:prstGeom prst="rect">
            <a:avLst/>
          </a:prstGeom>
          <a:solidFill>
            <a:srgbClr val="009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Oval 26"/>
          <p:cNvSpPr/>
          <p:nvPr/>
        </p:nvSpPr>
        <p:spPr>
          <a:xfrm>
            <a:off x="9250560" y="1554480"/>
            <a:ext cx="319680" cy="319680"/>
          </a:xfrm>
          <a:prstGeom prst="ellipse">
            <a:avLst/>
          </a:prstGeom>
          <a:solidFill>
            <a:srgbClr val="009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🐳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199" name="TextBox 27"/>
          <p:cNvSpPr/>
          <p:nvPr/>
        </p:nvSpPr>
        <p:spPr>
          <a:xfrm>
            <a:off x="9707760" y="1554480"/>
            <a:ext cx="18741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9000"/>
                </a:solidFill>
                <a:latin typeface="Calibri"/>
              </a:rPr>
              <a:t>DevOps / Observabilidad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200" name="TextBox 28"/>
          <p:cNvSpPr/>
          <p:nvPr/>
        </p:nvSpPr>
        <p:spPr>
          <a:xfrm>
            <a:off x="9250560" y="2103120"/>
            <a:ext cx="2331360" cy="20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Docker Compose multi-servicio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Multi-stage Dockerfiles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nginx 1.25 (reverse proxy + SSL)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Grafana 11 + Loki 3.0 + Promtail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Prometheus 2.53 + cAdvisor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PostgreSQL 16 Alpine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Mailpit (SMTP testing)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2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Decisiones Arquitectónicas Clave (ADRs)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19 ADRs documentados (18 Accepted, 1 Proposed) — las 8 más relevantes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204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Rounded Rectangle 9"/>
          <p:cNvSpPr/>
          <p:nvPr/>
        </p:nvSpPr>
        <p:spPr>
          <a:xfrm>
            <a:off x="457200" y="14630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Rounded Rectangle 10"/>
          <p:cNvSpPr/>
          <p:nvPr/>
        </p:nvSpPr>
        <p:spPr>
          <a:xfrm>
            <a:off x="594360" y="16459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11" name="TextBox 11"/>
          <p:cNvSpPr/>
          <p:nvPr/>
        </p:nvSpPr>
        <p:spPr>
          <a:xfrm>
            <a:off x="1005840" y="1600200"/>
            <a:ext cx="20570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b82f6"/>
                </a:solidFill>
                <a:latin typeface="Calibri"/>
              </a:rPr>
              <a:t>Arquitectura 3 Módulos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1005840" y="1920240"/>
            <a:ext cx="20570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Citizen UI + Backoffice UI + Core API separados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13" name="Rounded Rectangle 13"/>
          <p:cNvSpPr/>
          <p:nvPr/>
        </p:nvSpPr>
        <p:spPr>
          <a:xfrm>
            <a:off x="3429000" y="14630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Rounded Rectangle 14"/>
          <p:cNvSpPr/>
          <p:nvPr/>
        </p:nvSpPr>
        <p:spPr>
          <a:xfrm>
            <a:off x="3566160" y="16459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3977640" y="16002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b82f6"/>
                </a:solidFill>
                <a:latin typeface="Calibri"/>
              </a:rPr>
              <a:t>Límites Hexagonales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16" name="TextBox 16"/>
          <p:cNvSpPr/>
          <p:nvPr/>
        </p:nvSpPr>
        <p:spPr>
          <a:xfrm>
            <a:off x="3977640" y="1920240"/>
            <a:ext cx="2057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Domain/App/Infra/Entrypoints con dependencias estrictas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17" name="Rounded Rectangle 17"/>
          <p:cNvSpPr/>
          <p:nvPr/>
        </p:nvSpPr>
        <p:spPr>
          <a:xfrm>
            <a:off x="6400800" y="14630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Rounded Rectangle 18"/>
          <p:cNvSpPr/>
          <p:nvPr/>
        </p:nvSpPr>
        <p:spPr>
          <a:xfrm>
            <a:off x="6537960" y="16459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19" name="TextBox 19"/>
          <p:cNvSpPr/>
          <p:nvPr/>
        </p:nvSpPr>
        <p:spPr>
          <a:xfrm>
            <a:off x="6949440" y="16002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6b6d4"/>
                </a:solidFill>
                <a:latin typeface="Calibri"/>
              </a:rPr>
              <a:t>Flowable BPMN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20" name="TextBox 20"/>
          <p:cNvSpPr/>
          <p:nvPr/>
        </p:nvSpPr>
        <p:spPr>
          <a:xfrm>
            <a:off x="6949440" y="1920240"/>
            <a:ext cx="2057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Migración desde Camunda 7 por Spring Boot 3 + mantenimiento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21" name="Rounded Rectangle 21"/>
          <p:cNvSpPr/>
          <p:nvPr/>
        </p:nvSpPr>
        <p:spPr>
          <a:xfrm>
            <a:off x="457200" y="28346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Rounded Rectangle 22"/>
          <p:cNvSpPr/>
          <p:nvPr/>
        </p:nvSpPr>
        <p:spPr>
          <a:xfrm>
            <a:off x="594360" y="30175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23" name="TextBox 23"/>
          <p:cNvSpPr/>
          <p:nvPr/>
        </p:nvSpPr>
        <p:spPr>
          <a:xfrm>
            <a:off x="1005840" y="29718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</a:rPr>
              <a:t>Pipeline Documentos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24" name="TextBox 24"/>
          <p:cNvSpPr/>
          <p:nvPr/>
        </p:nvSpPr>
        <p:spPr>
          <a:xfrm>
            <a:off x="1005840" y="3291840"/>
            <a:ext cx="20570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Upload → LibreOffice PDF → Bouncy Castle CMS → ENI Package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25" name="Rounded Rectangle 25"/>
          <p:cNvSpPr/>
          <p:nvPr/>
        </p:nvSpPr>
        <p:spPr>
          <a:xfrm>
            <a:off x="3429000" y="28346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Rounded Rectangle 26"/>
          <p:cNvSpPr/>
          <p:nvPr/>
        </p:nvSpPr>
        <p:spPr>
          <a:xfrm>
            <a:off x="3566160" y="30175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27" name="TextBox 27"/>
          <p:cNvSpPr/>
          <p:nvPr/>
        </p:nvSpPr>
        <p:spPr>
          <a:xfrm>
            <a:off x="3977640" y="29718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</a:rPr>
              <a:t>ENI Metadata en DB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28" name="TextBox 28"/>
          <p:cNvSpPr/>
          <p:nvPr/>
        </p:nvSpPr>
        <p:spPr>
          <a:xfrm>
            <a:off x="3977640" y="3291840"/>
            <a:ext cx="20570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PostgreSQL en vez de XML sueltos — auto-contenido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29" name="Rounded Rectangle 29"/>
          <p:cNvSpPr/>
          <p:nvPr/>
        </p:nvSpPr>
        <p:spPr>
          <a:xfrm>
            <a:off x="6400800" y="28346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Rounded Rectangle 30"/>
          <p:cNvSpPr/>
          <p:nvPr/>
        </p:nvSpPr>
        <p:spPr>
          <a:xfrm>
            <a:off x="6537960" y="30175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31" name="TextBox 31"/>
          <p:cNvSpPr/>
          <p:nvPr/>
        </p:nvSpPr>
        <p:spPr>
          <a:xfrm>
            <a:off x="6949440" y="29718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5cf6"/>
                </a:solidFill>
                <a:latin typeface="Calibri"/>
              </a:rPr>
              <a:t>Loki + Grafana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32" name="TextBox 32"/>
          <p:cNvSpPr/>
          <p:nvPr/>
        </p:nvSpPr>
        <p:spPr>
          <a:xfrm>
            <a:off x="6949440" y="3291840"/>
            <a:ext cx="20570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Logs JSON estructurados, dashboards, alertas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33" name="Rounded Rectangle 33"/>
          <p:cNvSpPr/>
          <p:nvPr/>
        </p:nvSpPr>
        <p:spPr>
          <a:xfrm>
            <a:off x="457200" y="42062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Rounded Rectangle 34"/>
          <p:cNvSpPr/>
          <p:nvPr/>
        </p:nvSpPr>
        <p:spPr>
          <a:xfrm>
            <a:off x="594360" y="43891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35" name="TextBox 35"/>
          <p:cNvSpPr/>
          <p:nvPr/>
        </p:nvSpPr>
        <p:spPr>
          <a:xfrm>
            <a:off x="1005840" y="43434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nginx Centralizado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36" name="TextBox 36"/>
          <p:cNvSpPr/>
          <p:nvPr/>
        </p:nvSpPr>
        <p:spPr>
          <a:xfrm>
            <a:off x="1005840" y="4663440"/>
            <a:ext cx="20570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Reverse proxy único SSL para todos los subdominios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37" name="Rounded Rectangle 37"/>
          <p:cNvSpPr/>
          <p:nvPr/>
        </p:nvSpPr>
        <p:spPr>
          <a:xfrm>
            <a:off x="3429000" y="420624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Rounded Rectangle 38"/>
          <p:cNvSpPr/>
          <p:nvPr/>
        </p:nvSpPr>
        <p:spPr>
          <a:xfrm>
            <a:off x="3566160" y="4389120"/>
            <a:ext cx="319680" cy="3196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39" name="TextBox 39"/>
          <p:cNvSpPr/>
          <p:nvPr/>
        </p:nvSpPr>
        <p:spPr>
          <a:xfrm>
            <a:off x="3977640" y="4343400"/>
            <a:ext cx="2057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Email Asíncrono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40" name="TextBox 40"/>
          <p:cNvSpPr/>
          <p:nvPr/>
        </p:nvSpPr>
        <p:spPr>
          <a:xfrm>
            <a:off x="3977640" y="4663440"/>
            <a:ext cx="20570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RabbitMQ + DB throttle + cola de reintentos</a:t>
            </a:r>
            <a:endParaRPr b="0" lang="es-E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Seguridad — ENS Nivel Medio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Cumplimiento de 20 medidas ENS + OWASP Top 10 (9/10 cubiertos) · RD 311/2022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244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Rounded Rectangle 9"/>
          <p:cNvSpPr/>
          <p:nvPr/>
        </p:nvSpPr>
        <p:spPr>
          <a:xfrm>
            <a:off x="365760" y="146304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Rectangle 10"/>
          <p:cNvSpPr/>
          <p:nvPr/>
        </p:nvSpPr>
        <p:spPr>
          <a:xfrm>
            <a:off x="365760" y="1463040"/>
            <a:ext cx="214848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Oval 11"/>
          <p:cNvSpPr/>
          <p:nvPr/>
        </p:nvSpPr>
        <p:spPr>
          <a:xfrm>
            <a:off x="502920" y="1645920"/>
            <a:ext cx="292320" cy="292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🔑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868680" y="164592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Identificación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502920" y="2057400"/>
            <a:ext cx="187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JWT + BCrypt (cost 12)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502920" y="320040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D.1.1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55" name="Rounded Rectangle 15"/>
          <p:cNvSpPr/>
          <p:nvPr/>
        </p:nvSpPr>
        <p:spPr>
          <a:xfrm>
            <a:off x="2679120" y="146304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Rectangle 16"/>
          <p:cNvSpPr/>
          <p:nvPr/>
        </p:nvSpPr>
        <p:spPr>
          <a:xfrm>
            <a:off x="2679120" y="1463040"/>
            <a:ext cx="214848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Oval 17"/>
          <p:cNvSpPr/>
          <p:nvPr/>
        </p:nvSpPr>
        <p:spPr>
          <a:xfrm>
            <a:off x="2816280" y="1645920"/>
            <a:ext cx="292320" cy="292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🚪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58" name="TextBox 18"/>
          <p:cNvSpPr/>
          <p:nvPr/>
        </p:nvSpPr>
        <p:spPr>
          <a:xfrm>
            <a:off x="3182040" y="164592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Control Acceso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59" name="TextBox 19"/>
          <p:cNvSpPr/>
          <p:nvPr/>
        </p:nvSpPr>
        <p:spPr>
          <a:xfrm>
            <a:off x="2816280" y="205740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RBAC: citizen / tramitador / admin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60" name="TextBox 20"/>
          <p:cNvSpPr/>
          <p:nvPr/>
        </p:nvSpPr>
        <p:spPr>
          <a:xfrm>
            <a:off x="2816280" y="320040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D.1.2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61" name="Rounded Rectangle 21"/>
          <p:cNvSpPr/>
          <p:nvPr/>
        </p:nvSpPr>
        <p:spPr>
          <a:xfrm>
            <a:off x="4992480" y="146304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Rectangle 22"/>
          <p:cNvSpPr/>
          <p:nvPr/>
        </p:nvSpPr>
        <p:spPr>
          <a:xfrm>
            <a:off x="4992480" y="1463040"/>
            <a:ext cx="214848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Oval 23"/>
          <p:cNvSpPr/>
          <p:nvPr/>
        </p:nvSpPr>
        <p:spPr>
          <a:xfrm>
            <a:off x="5129640" y="1645920"/>
            <a:ext cx="292320" cy="292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📝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64" name="TextBox 24"/>
          <p:cNvSpPr/>
          <p:nvPr/>
        </p:nvSpPr>
        <p:spPr>
          <a:xfrm>
            <a:off x="5495400" y="164592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Auditoría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65" name="TextBox 25"/>
          <p:cNvSpPr/>
          <p:nvPr/>
        </p:nvSpPr>
        <p:spPr>
          <a:xfrm>
            <a:off x="5129640" y="205740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security_audit_log, 24 eventos async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66" name="TextBox 26"/>
          <p:cNvSpPr/>
          <p:nvPr/>
        </p:nvSpPr>
        <p:spPr>
          <a:xfrm>
            <a:off x="5129640" y="320040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D.1.3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67" name="Rounded Rectangle 27"/>
          <p:cNvSpPr/>
          <p:nvPr/>
        </p:nvSpPr>
        <p:spPr>
          <a:xfrm>
            <a:off x="7306200" y="146304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Rectangle 28"/>
          <p:cNvSpPr/>
          <p:nvPr/>
        </p:nvSpPr>
        <p:spPr>
          <a:xfrm>
            <a:off x="7306200" y="1463040"/>
            <a:ext cx="214848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Oval 29"/>
          <p:cNvSpPr/>
          <p:nvPr/>
        </p:nvSpPr>
        <p:spPr>
          <a:xfrm>
            <a:off x="7443360" y="1645920"/>
            <a:ext cx="292320" cy="292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🔒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70" name="TextBox 30"/>
          <p:cNvSpPr/>
          <p:nvPr/>
        </p:nvSpPr>
        <p:spPr>
          <a:xfrm>
            <a:off x="7809120" y="164592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Integridad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71" name="TextBox 31"/>
          <p:cNvSpPr/>
          <p:nvPr/>
        </p:nvSpPr>
        <p:spPr>
          <a:xfrm>
            <a:off x="7443360" y="205740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JPA auditing + registros inmutables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72" name="TextBox 32"/>
          <p:cNvSpPr/>
          <p:nvPr/>
        </p:nvSpPr>
        <p:spPr>
          <a:xfrm>
            <a:off x="7443360" y="320040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D.1.4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73" name="Rounded Rectangle 33"/>
          <p:cNvSpPr/>
          <p:nvPr/>
        </p:nvSpPr>
        <p:spPr>
          <a:xfrm>
            <a:off x="9619560" y="146304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4" name="Rectangle 34"/>
          <p:cNvSpPr/>
          <p:nvPr/>
        </p:nvSpPr>
        <p:spPr>
          <a:xfrm>
            <a:off x="9619560" y="1463040"/>
            <a:ext cx="214848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Oval 35"/>
          <p:cNvSpPr/>
          <p:nvPr/>
        </p:nvSpPr>
        <p:spPr>
          <a:xfrm>
            <a:off x="9756720" y="1645920"/>
            <a:ext cx="292320" cy="292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🔐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76" name="TextBox 36"/>
          <p:cNvSpPr/>
          <p:nvPr/>
        </p:nvSpPr>
        <p:spPr>
          <a:xfrm>
            <a:off x="10122480" y="1645920"/>
            <a:ext cx="1508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Confidencialidad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77" name="TextBox 37"/>
          <p:cNvSpPr/>
          <p:nvPr/>
        </p:nvSpPr>
        <p:spPr>
          <a:xfrm>
            <a:off x="9756720" y="2057400"/>
            <a:ext cx="187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TLS 1.2/1.3 en nginx SSL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78" name="TextBox 38"/>
          <p:cNvSpPr/>
          <p:nvPr/>
        </p:nvSpPr>
        <p:spPr>
          <a:xfrm>
            <a:off x="9756720" y="320040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D.1.5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79" name="Rounded Rectangle 39"/>
          <p:cNvSpPr/>
          <p:nvPr/>
        </p:nvSpPr>
        <p:spPr>
          <a:xfrm>
            <a:off x="365760" y="393192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Rectangle 40"/>
          <p:cNvSpPr/>
          <p:nvPr/>
        </p:nvSpPr>
        <p:spPr>
          <a:xfrm>
            <a:off x="365760" y="3931920"/>
            <a:ext cx="214848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Oval 41"/>
          <p:cNvSpPr/>
          <p:nvPr/>
        </p:nvSpPr>
        <p:spPr>
          <a:xfrm>
            <a:off x="502920" y="4114800"/>
            <a:ext cx="292320" cy="292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🔤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82" name="TextBox 42"/>
          <p:cNvSpPr/>
          <p:nvPr/>
        </p:nvSpPr>
        <p:spPr>
          <a:xfrm>
            <a:off x="868680" y="411480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Política Pass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83" name="TextBox 43"/>
          <p:cNvSpPr/>
          <p:nvPr/>
        </p:nvSpPr>
        <p:spPr>
          <a:xfrm>
            <a:off x="502920" y="452628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8+ chars, mayúscula, dígito, especial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84" name="TextBox 44"/>
          <p:cNvSpPr/>
          <p:nvPr/>
        </p:nvSpPr>
        <p:spPr>
          <a:xfrm>
            <a:off x="502920" y="566928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D.2.1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85" name="Rounded Rectangle 45"/>
          <p:cNvSpPr/>
          <p:nvPr/>
        </p:nvSpPr>
        <p:spPr>
          <a:xfrm>
            <a:off x="2679120" y="393192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Rectangle 46"/>
          <p:cNvSpPr/>
          <p:nvPr/>
        </p:nvSpPr>
        <p:spPr>
          <a:xfrm>
            <a:off x="2679120" y="3931920"/>
            <a:ext cx="214848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7" name="Oval 47"/>
          <p:cNvSpPr/>
          <p:nvPr/>
        </p:nvSpPr>
        <p:spPr>
          <a:xfrm>
            <a:off x="2816280" y="4114800"/>
            <a:ext cx="292320" cy="292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🚫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88" name="TextBox 48"/>
          <p:cNvSpPr/>
          <p:nvPr/>
        </p:nvSpPr>
        <p:spPr>
          <a:xfrm>
            <a:off x="3182040" y="4114800"/>
            <a:ext cx="1508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Bloqueo Cuenta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89" name="TextBox 49"/>
          <p:cNvSpPr/>
          <p:nvPr/>
        </p:nvSpPr>
        <p:spPr>
          <a:xfrm>
            <a:off x="2816280" y="4526280"/>
            <a:ext cx="18741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5 fallos → 15 min lockout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90" name="TextBox 50"/>
          <p:cNvSpPr/>
          <p:nvPr/>
        </p:nvSpPr>
        <p:spPr>
          <a:xfrm>
            <a:off x="2816280" y="566928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D.2.2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91" name="Rounded Rectangle 51"/>
          <p:cNvSpPr/>
          <p:nvPr/>
        </p:nvSpPr>
        <p:spPr>
          <a:xfrm>
            <a:off x="4992480" y="393192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Rectangle 52"/>
          <p:cNvSpPr/>
          <p:nvPr/>
        </p:nvSpPr>
        <p:spPr>
          <a:xfrm>
            <a:off x="4992480" y="3931920"/>
            <a:ext cx="214848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Oval 53"/>
          <p:cNvSpPr/>
          <p:nvPr/>
        </p:nvSpPr>
        <p:spPr>
          <a:xfrm>
            <a:off x="5129640" y="4114800"/>
            <a:ext cx="292320" cy="292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🕐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294" name="TextBox 54"/>
          <p:cNvSpPr/>
          <p:nvPr/>
        </p:nvSpPr>
        <p:spPr>
          <a:xfrm>
            <a:off x="5495400" y="411480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Sesiones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295" name="TextBox 55"/>
          <p:cNvSpPr/>
          <p:nvPr/>
        </p:nvSpPr>
        <p:spPr>
          <a:xfrm>
            <a:off x="5129640" y="452628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JWT stateless, 15 min access, refresh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296" name="TextBox 56"/>
          <p:cNvSpPr/>
          <p:nvPr/>
        </p:nvSpPr>
        <p:spPr>
          <a:xfrm>
            <a:off x="5129640" y="566928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D.2.3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297" name="Rounded Rectangle 57"/>
          <p:cNvSpPr/>
          <p:nvPr/>
        </p:nvSpPr>
        <p:spPr>
          <a:xfrm>
            <a:off x="7306200" y="393192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Rectangle 58"/>
          <p:cNvSpPr/>
          <p:nvPr/>
        </p:nvSpPr>
        <p:spPr>
          <a:xfrm>
            <a:off x="7306200" y="3931920"/>
            <a:ext cx="214848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9" name="Oval 59"/>
          <p:cNvSpPr/>
          <p:nvPr/>
        </p:nvSpPr>
        <p:spPr>
          <a:xfrm>
            <a:off x="7443360" y="4114800"/>
            <a:ext cx="292320" cy="292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🛡️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00" name="TextBox 60"/>
          <p:cNvSpPr/>
          <p:nvPr/>
        </p:nvSpPr>
        <p:spPr>
          <a:xfrm>
            <a:off x="7809120" y="411480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Cabeceras Seg.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01" name="TextBox 61"/>
          <p:cNvSpPr/>
          <p:nvPr/>
        </p:nvSpPr>
        <p:spPr>
          <a:xfrm>
            <a:off x="7443360" y="452628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HSTS, CSP, X-Frame-Options, XSS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302" name="TextBox 62"/>
          <p:cNvSpPr/>
          <p:nvPr/>
        </p:nvSpPr>
        <p:spPr>
          <a:xfrm>
            <a:off x="7443360" y="566928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D.2.4</a:t>
            </a:r>
            <a:endParaRPr b="0" lang="es-ES" sz="900" spc="-1" strike="noStrike">
              <a:latin typeface="Arial"/>
            </a:endParaRPr>
          </a:p>
        </p:txBody>
      </p:sp>
      <p:sp>
        <p:nvSpPr>
          <p:cNvPr id="303" name="Rounded Rectangle 63"/>
          <p:cNvSpPr/>
          <p:nvPr/>
        </p:nvSpPr>
        <p:spPr>
          <a:xfrm>
            <a:off x="9619560" y="3931920"/>
            <a:ext cx="2148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Rectangle 64"/>
          <p:cNvSpPr/>
          <p:nvPr/>
        </p:nvSpPr>
        <p:spPr>
          <a:xfrm>
            <a:off x="9619560" y="3931920"/>
            <a:ext cx="214848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Oval 65"/>
          <p:cNvSpPr/>
          <p:nvPr/>
        </p:nvSpPr>
        <p:spPr>
          <a:xfrm>
            <a:off x="9756720" y="4114800"/>
            <a:ext cx="292320" cy="292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⏱️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06" name="TextBox 66"/>
          <p:cNvSpPr/>
          <p:nvPr/>
        </p:nvSpPr>
        <p:spPr>
          <a:xfrm>
            <a:off x="10122480" y="4114800"/>
            <a:ext cx="1508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11a33"/>
                </a:solidFill>
                <a:latin typeface="Calibri"/>
              </a:rPr>
              <a:t>Rate Limiting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07" name="TextBox 67"/>
          <p:cNvSpPr/>
          <p:nvPr/>
        </p:nvSpPr>
        <p:spPr>
          <a:xfrm>
            <a:off x="9756720" y="4526280"/>
            <a:ext cx="18741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10 req/min/IP + cooldown por email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308" name="TextBox 68"/>
          <p:cNvSpPr/>
          <p:nvPr/>
        </p:nvSpPr>
        <p:spPr>
          <a:xfrm>
            <a:off x="9756720" y="5669280"/>
            <a:ext cx="18741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D.2.5</a:t>
            </a:r>
            <a:endParaRPr b="0" lang="es-E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Pipeline de Documentos con Firma Electrónica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311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CMS/PKCS#7 detached signature · PAdES-like · LibreOffice · Bouncy Castle 1.84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312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4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Rounded Rectangle 9"/>
          <p:cNvSpPr/>
          <p:nvPr/>
        </p:nvSpPr>
        <p:spPr>
          <a:xfrm>
            <a:off x="677880" y="1828800"/>
            <a:ext cx="169128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Oval 10"/>
          <p:cNvSpPr/>
          <p:nvPr/>
        </p:nvSpPr>
        <p:spPr>
          <a:xfrm>
            <a:off x="1249560" y="2011680"/>
            <a:ext cx="548280" cy="5482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19" name="TextBox 11"/>
          <p:cNvSpPr/>
          <p:nvPr/>
        </p:nvSpPr>
        <p:spPr>
          <a:xfrm>
            <a:off x="769320" y="2743200"/>
            <a:ext cx="1508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Upload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20" name="TextBox 12"/>
          <p:cNvSpPr/>
          <p:nvPr/>
        </p:nvSpPr>
        <p:spPr>
          <a:xfrm>
            <a:off x="769320" y="3108960"/>
            <a:ext cx="15084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El ciudadano sube el</a:t>
            </a:r>
            <a:br>
              <a:rPr sz="1100"/>
            </a:b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documento original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21" name="Rectangle 13"/>
          <p:cNvSpPr/>
          <p:nvPr/>
        </p:nvSpPr>
        <p:spPr>
          <a:xfrm>
            <a:off x="2387880" y="3237120"/>
            <a:ext cx="100080" cy="1094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Rounded Rectangle 14"/>
          <p:cNvSpPr/>
          <p:nvPr/>
        </p:nvSpPr>
        <p:spPr>
          <a:xfrm>
            <a:off x="2506680" y="1828800"/>
            <a:ext cx="169128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Oval 15"/>
          <p:cNvSpPr/>
          <p:nvPr/>
        </p:nvSpPr>
        <p:spPr>
          <a:xfrm>
            <a:off x="3078360" y="2011680"/>
            <a:ext cx="548280" cy="5482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24" name="TextBox 16"/>
          <p:cNvSpPr/>
          <p:nvPr/>
        </p:nvSpPr>
        <p:spPr>
          <a:xfrm>
            <a:off x="2598120" y="2743200"/>
            <a:ext cx="1508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Conversión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25" name="TextBox 17"/>
          <p:cNvSpPr/>
          <p:nvPr/>
        </p:nvSpPr>
        <p:spPr>
          <a:xfrm>
            <a:off x="2598120" y="3108960"/>
            <a:ext cx="150840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JODConverter + LibreOffice</a:t>
            </a:r>
            <a:br>
              <a:rPr sz="1100"/>
            </a:b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convierte a PDF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26" name="Rectangle 18"/>
          <p:cNvSpPr/>
          <p:nvPr/>
        </p:nvSpPr>
        <p:spPr>
          <a:xfrm>
            <a:off x="4216680" y="3237120"/>
            <a:ext cx="100080" cy="1094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Rounded Rectangle 19"/>
          <p:cNvSpPr/>
          <p:nvPr/>
        </p:nvSpPr>
        <p:spPr>
          <a:xfrm>
            <a:off x="4335480" y="1828800"/>
            <a:ext cx="169128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8" name="Oval 20"/>
          <p:cNvSpPr/>
          <p:nvPr/>
        </p:nvSpPr>
        <p:spPr>
          <a:xfrm>
            <a:off x="4907160" y="2011680"/>
            <a:ext cx="548280" cy="548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29" name="TextBox 21"/>
          <p:cNvSpPr/>
          <p:nvPr/>
        </p:nvSpPr>
        <p:spPr>
          <a:xfrm>
            <a:off x="4426920" y="2743200"/>
            <a:ext cx="1508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Firma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30" name="TextBox 22"/>
          <p:cNvSpPr/>
          <p:nvPr/>
        </p:nvSpPr>
        <p:spPr>
          <a:xfrm>
            <a:off x="4426920" y="3108960"/>
            <a:ext cx="15084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Bouncy Castle genera firma</a:t>
            </a:r>
            <a:br>
              <a:rPr sz="1100"/>
            </a:b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CMS/PKCS#7 RSA+SHA256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31" name="Rectangle 23"/>
          <p:cNvSpPr/>
          <p:nvPr/>
        </p:nvSpPr>
        <p:spPr>
          <a:xfrm>
            <a:off x="6045480" y="3237120"/>
            <a:ext cx="100080" cy="1094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2" name="Rounded Rectangle 24"/>
          <p:cNvSpPr/>
          <p:nvPr/>
        </p:nvSpPr>
        <p:spPr>
          <a:xfrm>
            <a:off x="6164280" y="1828800"/>
            <a:ext cx="169128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Oval 25"/>
          <p:cNvSpPr/>
          <p:nvPr/>
        </p:nvSpPr>
        <p:spPr>
          <a:xfrm>
            <a:off x="6735960" y="2011680"/>
            <a:ext cx="548280" cy="5482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34" name="TextBox 26"/>
          <p:cNvSpPr/>
          <p:nvPr/>
        </p:nvSpPr>
        <p:spPr>
          <a:xfrm>
            <a:off x="6255720" y="2743200"/>
            <a:ext cx="1508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b5cf6"/>
                </a:solidFill>
                <a:latin typeface="Calibri"/>
              </a:rPr>
              <a:t>Registro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35" name="TextBox 27"/>
          <p:cNvSpPr/>
          <p:nvPr/>
        </p:nvSpPr>
        <p:spPr>
          <a:xfrm>
            <a:off x="6255720" y="3108960"/>
            <a:ext cx="15084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RegistryService asigna</a:t>
            </a:r>
            <a:br>
              <a:rPr sz="1100"/>
            </a:b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NRE/RS con contadores SQL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36" name="Rectangle 28"/>
          <p:cNvSpPr/>
          <p:nvPr/>
        </p:nvSpPr>
        <p:spPr>
          <a:xfrm>
            <a:off x="7874280" y="3237120"/>
            <a:ext cx="100080" cy="1094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Rounded Rectangle 29"/>
          <p:cNvSpPr/>
          <p:nvPr/>
        </p:nvSpPr>
        <p:spPr>
          <a:xfrm>
            <a:off x="7993080" y="1828800"/>
            <a:ext cx="169128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Oval 30"/>
          <p:cNvSpPr/>
          <p:nvPr/>
        </p:nvSpPr>
        <p:spPr>
          <a:xfrm>
            <a:off x="8564760" y="2011680"/>
            <a:ext cx="548280" cy="548280"/>
          </a:xfrm>
          <a:prstGeom prst="ellipse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39" name="TextBox 31"/>
          <p:cNvSpPr/>
          <p:nvPr/>
        </p:nvSpPr>
        <p:spPr>
          <a:xfrm>
            <a:off x="8084520" y="2743200"/>
            <a:ext cx="1508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dd3030"/>
                </a:solidFill>
                <a:latin typeface="Calibri"/>
              </a:rPr>
              <a:t>Resumen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40" name="TextBox 32"/>
          <p:cNvSpPr/>
          <p:nvPr/>
        </p:nvSpPr>
        <p:spPr>
          <a:xfrm>
            <a:off x="8084520" y="3108960"/>
            <a:ext cx="15084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PDF resumen firmado</a:t>
            </a:r>
            <a:br>
              <a:rPr sz="1100"/>
            </a:b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con QR + metadatos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41" name="Rectangle 33"/>
          <p:cNvSpPr/>
          <p:nvPr/>
        </p:nvSpPr>
        <p:spPr>
          <a:xfrm>
            <a:off x="9703080" y="3237120"/>
            <a:ext cx="100080" cy="10944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2" name="Rounded Rectangle 34"/>
          <p:cNvSpPr/>
          <p:nvPr/>
        </p:nvSpPr>
        <p:spPr>
          <a:xfrm>
            <a:off x="9821880" y="1828800"/>
            <a:ext cx="169128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3" name="Oval 35"/>
          <p:cNvSpPr/>
          <p:nvPr/>
        </p:nvSpPr>
        <p:spPr>
          <a:xfrm>
            <a:off x="10393560" y="2011680"/>
            <a:ext cx="548280" cy="548280"/>
          </a:xfrm>
          <a:prstGeom prst="ellipse">
            <a:avLst/>
          </a:prstGeom>
          <a:solidFill>
            <a:srgbClr val="009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44" name="TextBox 36"/>
          <p:cNvSpPr/>
          <p:nvPr/>
        </p:nvSpPr>
        <p:spPr>
          <a:xfrm>
            <a:off x="9913320" y="2743200"/>
            <a:ext cx="1508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9000"/>
                </a:solidFill>
                <a:latin typeface="Calibri"/>
              </a:rPr>
              <a:t>ENI Package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45" name="TextBox 37"/>
          <p:cNvSpPr/>
          <p:nvPr/>
        </p:nvSpPr>
        <p:spPr>
          <a:xfrm>
            <a:off x="9913320" y="3108960"/>
            <a:ext cx="15084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EniPackagerService crea</a:t>
            </a:r>
            <a:br>
              <a:rPr sz="1100"/>
            </a:b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.enidoc (ZIP) + XSD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46" name="Rounded Rectangle 38"/>
          <p:cNvSpPr/>
          <p:nvPr/>
        </p:nvSpPr>
        <p:spPr>
          <a:xfrm>
            <a:off x="1371600" y="5029200"/>
            <a:ext cx="94179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7" name="Rectangle 39"/>
          <p:cNvSpPr/>
          <p:nvPr/>
        </p:nvSpPr>
        <p:spPr>
          <a:xfrm>
            <a:off x="1645920" y="5029200"/>
            <a:ext cx="886932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8" name="TextBox 40"/>
          <p:cNvSpPr/>
          <p:nvPr/>
        </p:nvSpPr>
        <p:spPr>
          <a:xfrm>
            <a:off x="1645920" y="5212080"/>
            <a:ext cx="8869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Flujo completo del Pipeline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49" name="TextBox 41"/>
          <p:cNvSpPr/>
          <p:nvPr/>
        </p:nvSpPr>
        <p:spPr>
          <a:xfrm>
            <a:off x="1645920" y="5577840"/>
            <a:ext cx="8869320" cy="8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Upload -&gt; Conversion PDF -&gt; Firma CMS/PKCS#7 -&gt; Registro atomico -&gt; PDF Resumen QR -&gt; Paquete ENIDOC con validacion XSD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Certificado auto-firmado: CN=TFG Service Signing, O=TFG Records, C=ES . RSA 2048-bit . Validez 1 ano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La firma se incrusta en el PDF (PAdES-like) y tambien se genera version detached .xsig para ENI compliance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Interoperabilidad — ENI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352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Esquema Nacional de Interoperabilidad · RD 4/2010 · NTIs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353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7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8" name="Rounded Rectangle 9"/>
          <p:cNvSpPr/>
          <p:nvPr/>
        </p:nvSpPr>
        <p:spPr>
          <a:xfrm>
            <a:off x="457200" y="1463040"/>
            <a:ext cx="347436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Rectangle 10"/>
          <p:cNvSpPr/>
          <p:nvPr/>
        </p:nvSpPr>
        <p:spPr>
          <a:xfrm>
            <a:off x="457200" y="1463040"/>
            <a:ext cx="347436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Oval 11"/>
          <p:cNvSpPr/>
          <p:nvPr/>
        </p:nvSpPr>
        <p:spPr>
          <a:xfrm>
            <a:off x="640080" y="1645920"/>
            <a:ext cx="319680" cy="319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📋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61" name="TextBox 12"/>
          <p:cNvSpPr/>
          <p:nvPr/>
        </p:nvSpPr>
        <p:spPr>
          <a:xfrm>
            <a:off x="1097280" y="1645920"/>
            <a:ext cx="2651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3b82f6"/>
                </a:solidFill>
                <a:latin typeface="Calibri"/>
              </a:rPr>
              <a:t>Metadatos ENI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362" name="TextBox 13"/>
          <p:cNvSpPr/>
          <p:nvPr/>
        </p:nvSpPr>
        <p:spPr>
          <a:xfrm>
            <a:off x="640080" y="2194560"/>
            <a:ext cx="3108600" cy="23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Servicio: EniMetadataService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Persistencia en PostgreSQL (tabla eni_metadata)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Formato JSON versionado (ENI-NTI-2011)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Campos: órgano, procedimiento, documento,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 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firmante, fecha, CSV, tipo documental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Asociado a cada expediente y documento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63" name="Rounded Rectangle 14"/>
          <p:cNvSpPr/>
          <p:nvPr/>
        </p:nvSpPr>
        <p:spPr>
          <a:xfrm>
            <a:off x="4206240" y="1463040"/>
            <a:ext cx="347436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Rectangle 15"/>
          <p:cNvSpPr/>
          <p:nvPr/>
        </p:nvSpPr>
        <p:spPr>
          <a:xfrm>
            <a:off x="4206240" y="1463040"/>
            <a:ext cx="347436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5" name="Oval 16"/>
          <p:cNvSpPr/>
          <p:nvPr/>
        </p:nvSpPr>
        <p:spPr>
          <a:xfrm>
            <a:off x="4389120" y="1645920"/>
            <a:ext cx="319680" cy="3196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📦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66" name="TextBox 17"/>
          <p:cNvSpPr/>
          <p:nvPr/>
        </p:nvSpPr>
        <p:spPr>
          <a:xfrm>
            <a:off x="4846320" y="1645920"/>
            <a:ext cx="26514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2c55e"/>
                </a:solidFill>
                <a:latin typeface="Calibri"/>
              </a:rPr>
              <a:t>Paquete ENIDOC (.enidoc)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367" name="TextBox 18"/>
          <p:cNvSpPr/>
          <p:nvPr/>
        </p:nvSpPr>
        <p:spPr>
          <a:xfrm>
            <a:off x="4389120" y="2194560"/>
            <a:ext cx="3108600" cy="23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Servicio: EniPackagerService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Archivo ZIP conteniendo: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  •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Documentos PDF originales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  •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Firmas detached (.xsig) CMS/PKCS#7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  •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index.xml con metadatos completos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  •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Justificante de expediente electrónico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Validación contra XSD oficial en tiempo real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68" name="Rounded Rectangle 19"/>
          <p:cNvSpPr/>
          <p:nvPr/>
        </p:nvSpPr>
        <p:spPr>
          <a:xfrm>
            <a:off x="7955280" y="1463040"/>
            <a:ext cx="347436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Rectangle 20"/>
          <p:cNvSpPr/>
          <p:nvPr/>
        </p:nvSpPr>
        <p:spPr>
          <a:xfrm>
            <a:off x="7955280" y="1463040"/>
            <a:ext cx="347436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Oval 21"/>
          <p:cNvSpPr/>
          <p:nvPr/>
        </p:nvSpPr>
        <p:spPr>
          <a:xfrm>
            <a:off x="8138160" y="1645920"/>
            <a:ext cx="319680" cy="3196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✅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371" name="TextBox 22"/>
          <p:cNvSpPr/>
          <p:nvPr/>
        </p:nvSpPr>
        <p:spPr>
          <a:xfrm>
            <a:off x="8595360" y="1645920"/>
            <a:ext cx="26514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59e0b"/>
                </a:solidFill>
                <a:latin typeface="Calibri"/>
              </a:rPr>
              <a:t>CSV — Código Seguro Verificación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372" name="TextBox 23"/>
          <p:cNvSpPr/>
          <p:nvPr/>
        </p:nvSpPr>
        <p:spPr>
          <a:xfrm>
            <a:off x="8138160" y="2194560"/>
            <a:ext cx="3108600" cy="21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Hash SHA-256 del documento firmado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Código alfanumérico único de 32 caracteres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Verificación pública sin autenticación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Endpoint: /public/signatures/verify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Válido para presentación impresa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Cumple artículo 16.4 de la Ley 39/2015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4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Workflow BPMN con Flowable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375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Motor Flowable 7.0.1 · 2 procesos · Roles: TRAMITADOR, ADMIN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376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7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8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Rounded Rectangle 9"/>
          <p:cNvSpPr/>
          <p:nvPr/>
        </p:nvSpPr>
        <p:spPr>
          <a:xfrm>
            <a:off x="548640" y="1463040"/>
            <a:ext cx="53031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Rectangle 10"/>
          <p:cNvSpPr/>
          <p:nvPr/>
        </p:nvSpPr>
        <p:spPr>
          <a:xfrm>
            <a:off x="822960" y="1463040"/>
            <a:ext cx="475452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3" name="Oval 11"/>
          <p:cNvSpPr/>
          <p:nvPr/>
        </p:nvSpPr>
        <p:spPr>
          <a:xfrm>
            <a:off x="822960" y="1645920"/>
            <a:ext cx="273960" cy="27396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⚡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84" name="TextBox 12"/>
          <p:cNvSpPr/>
          <p:nvPr/>
        </p:nvSpPr>
        <p:spPr>
          <a:xfrm>
            <a:off x="1234440" y="164592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⚡ </a:t>
            </a: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Proceso Simple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85" name="TextBox 13"/>
          <p:cNvSpPr/>
          <p:nvPr/>
        </p:nvSpPr>
        <p:spPr>
          <a:xfrm>
            <a:off x="822960" y="2057400"/>
            <a:ext cx="475452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Flujo: Start → Review (TRAMITADOR/ADMIN)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→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Approval (ADMIN) → End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Uso: Procedimientos sencillos, lineales,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sin bifurcaciones ni paralelismo.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Tareas humanas con asignación a grupos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vínculadas al backoffice.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86" name="Rounded Rectangle 14"/>
          <p:cNvSpPr/>
          <p:nvPr/>
        </p:nvSpPr>
        <p:spPr>
          <a:xfrm>
            <a:off x="6217920" y="1463040"/>
            <a:ext cx="53031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7" name="Rectangle 15"/>
          <p:cNvSpPr/>
          <p:nvPr/>
        </p:nvSpPr>
        <p:spPr>
          <a:xfrm>
            <a:off x="6492240" y="1463040"/>
            <a:ext cx="4754520" cy="36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Oval 16"/>
          <p:cNvSpPr/>
          <p:nvPr/>
        </p:nvSpPr>
        <p:spPr>
          <a:xfrm>
            <a:off x="6492240" y="1645920"/>
            <a:ext cx="273960" cy="27396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9" name="TextBox 17"/>
          <p:cNvSpPr/>
          <p:nvPr/>
        </p:nvSpPr>
        <p:spPr>
          <a:xfrm>
            <a:off x="6903720" y="164592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🔀 </a:t>
            </a: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Proceso Realista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90" name="TextBox 18"/>
          <p:cNvSpPr/>
          <p:nvPr/>
        </p:nvSpPr>
        <p:spPr>
          <a:xfrm>
            <a:off x="6492240" y="2057400"/>
            <a:ext cx="47545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Intake review con SLA timer 48h + escalado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Gateway documentación completa → amendment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Legal review + Parallel split: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•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Security check + Compliance check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Gateway decisión → Approved / Rejected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391" name="Rounded Rectangle 19"/>
          <p:cNvSpPr/>
          <p:nvPr/>
        </p:nvSpPr>
        <p:spPr>
          <a:xfrm>
            <a:off x="548640" y="4023360"/>
            <a:ext cx="109724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2" name="Rectangle 20"/>
          <p:cNvSpPr/>
          <p:nvPr/>
        </p:nvSpPr>
        <p:spPr>
          <a:xfrm>
            <a:off x="822960" y="4023360"/>
            <a:ext cx="10423800" cy="36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3" name="Oval 21"/>
          <p:cNvSpPr/>
          <p:nvPr/>
        </p:nvSpPr>
        <p:spPr>
          <a:xfrm>
            <a:off x="822960" y="4206240"/>
            <a:ext cx="273960" cy="273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4" name="TextBox 22"/>
          <p:cNvSpPr/>
          <p:nvPr/>
        </p:nvSpPr>
        <p:spPr>
          <a:xfrm>
            <a:off x="1234440" y="420624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🔗 </a:t>
            </a: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Integración con la Plataforma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395" name="TextBox 23"/>
          <p:cNvSpPr/>
          <p:nvPr/>
        </p:nvSpPr>
        <p:spPr>
          <a:xfrm>
            <a:off x="822960" y="4617720"/>
            <a:ext cx="1042380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WorkflowService.java — fachada hacia Flowable RuntimeService / TaskService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Process variables: caseId, ownerId, procedureTypeId, unitCode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Las tareas se exponen via REST para que el Backoffice las consuma en tiempo real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Eventos de timeline + auditoría en cada transición del workflow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Soporte completo para devolución a subsanación (amendment loop) con estado INTERVENTION_REQUIRED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7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Sede Electrónica — Pantallas Principales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Portal ciudadano · Angular 20 + Tailwind + Material CDK · i18n 5 idiomas · WCAG 2.1 AA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399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0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1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2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4" name="Rounded Rectangle 9"/>
          <p:cNvSpPr/>
          <p:nvPr/>
        </p:nvSpPr>
        <p:spPr>
          <a:xfrm>
            <a:off x="457200" y="1463040"/>
            <a:ext cx="347436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5" name="Rectangle 10"/>
          <p:cNvSpPr/>
          <p:nvPr/>
        </p:nvSpPr>
        <p:spPr>
          <a:xfrm>
            <a:off x="457200" y="1463040"/>
            <a:ext cx="347436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Oval 11"/>
          <p:cNvSpPr/>
          <p:nvPr/>
        </p:nvSpPr>
        <p:spPr>
          <a:xfrm>
            <a:off x="640080" y="1645920"/>
            <a:ext cx="319680" cy="319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🌐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07" name="TextBox 12"/>
          <p:cNvSpPr/>
          <p:nvPr/>
        </p:nvSpPr>
        <p:spPr>
          <a:xfrm>
            <a:off x="1097280" y="1645920"/>
            <a:ext cx="2651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3b82f6"/>
                </a:solidFill>
                <a:latin typeface="Calibri"/>
              </a:rPr>
              <a:t>Públicas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408" name="TextBox 13"/>
          <p:cNvSpPr/>
          <p:nvPr/>
        </p:nvSpPr>
        <p:spPr>
          <a:xfrm>
            <a:off x="640080" y="2194560"/>
            <a:ext cx="3108600" cy="18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Catálogo de procedimientos con buscador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Detalle con flujo visual del procedimiento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Verificación CSV de documentos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Portal de transparencia con métricas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FAQ, normativa, glosario, calendario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Declaración de accesibilidad WCAG 2.1 AA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09" name="Rounded Rectangle 14"/>
          <p:cNvSpPr/>
          <p:nvPr/>
        </p:nvSpPr>
        <p:spPr>
          <a:xfrm>
            <a:off x="4206240" y="1463040"/>
            <a:ext cx="347436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Rectangle 15"/>
          <p:cNvSpPr/>
          <p:nvPr/>
        </p:nvSpPr>
        <p:spPr>
          <a:xfrm>
            <a:off x="4206240" y="1463040"/>
            <a:ext cx="347436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Oval 16"/>
          <p:cNvSpPr/>
          <p:nvPr/>
        </p:nvSpPr>
        <p:spPr>
          <a:xfrm>
            <a:off x="4389120" y="1645920"/>
            <a:ext cx="319680" cy="3196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🔐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12" name="TextBox 17"/>
          <p:cNvSpPr/>
          <p:nvPr/>
        </p:nvSpPr>
        <p:spPr>
          <a:xfrm>
            <a:off x="4846320" y="1645920"/>
            <a:ext cx="2651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2c55e"/>
                </a:solidFill>
                <a:latin typeface="Calibri"/>
              </a:rPr>
              <a:t>Autenticación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413" name="TextBox 18"/>
          <p:cNvSpPr/>
          <p:nvPr/>
        </p:nvSpPr>
        <p:spPr>
          <a:xfrm>
            <a:off x="4389120" y="2194560"/>
            <a:ext cx="310860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Login JWT + refresh token rotado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Registro con verificación email OTP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Recuperación de contraseña segura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Rate limiting anti-fuerza bruta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Lockout tras 5 intentos fallidos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Cooldown por email en forgot-password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14" name="Rounded Rectangle 19"/>
          <p:cNvSpPr/>
          <p:nvPr/>
        </p:nvSpPr>
        <p:spPr>
          <a:xfrm>
            <a:off x="7955280" y="1463040"/>
            <a:ext cx="347436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Rectangle 20"/>
          <p:cNvSpPr/>
          <p:nvPr/>
        </p:nvSpPr>
        <p:spPr>
          <a:xfrm>
            <a:off x="7955280" y="1463040"/>
            <a:ext cx="347436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6" name="Oval 21"/>
          <p:cNvSpPr/>
          <p:nvPr/>
        </p:nvSpPr>
        <p:spPr>
          <a:xfrm>
            <a:off x="8138160" y="1645920"/>
            <a:ext cx="319680" cy="3196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📁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17" name="TextBox 22"/>
          <p:cNvSpPr/>
          <p:nvPr/>
        </p:nvSpPr>
        <p:spPr>
          <a:xfrm>
            <a:off x="8595360" y="1645920"/>
            <a:ext cx="2651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</a:rPr>
              <a:t>Área Privada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418" name="TextBox 23"/>
          <p:cNvSpPr/>
          <p:nvPr/>
        </p:nvSpPr>
        <p:spPr>
          <a:xfrm>
            <a:off x="8138160" y="2194560"/>
            <a:ext cx="3108600" cy="14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Dashboard del ciudadano con resumen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Asistente multi-paso nuevo expediente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Detalle de expediente con timeline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Gestión de documentos (subir/ver/firmar)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Mensajería bidireccional con tramitador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Notificaciones y carpeta ciudadana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Backoffice — Pantallas de Gestión Interna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421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Portal tramitador · Chart.js dashboards · Gestión de tareas BPMN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422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6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7" name="Rounded Rectangle 9"/>
          <p:cNvSpPr/>
          <p:nvPr/>
        </p:nvSpPr>
        <p:spPr>
          <a:xfrm>
            <a:off x="426600" y="1463040"/>
            <a:ext cx="269712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8" name="Rectangle 10"/>
          <p:cNvSpPr/>
          <p:nvPr/>
        </p:nvSpPr>
        <p:spPr>
          <a:xfrm>
            <a:off x="426600" y="1463040"/>
            <a:ext cx="269712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Oval 11"/>
          <p:cNvSpPr/>
          <p:nvPr/>
        </p:nvSpPr>
        <p:spPr>
          <a:xfrm>
            <a:off x="609480" y="1645920"/>
            <a:ext cx="319680" cy="319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📊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30" name="TextBox 12"/>
          <p:cNvSpPr/>
          <p:nvPr/>
        </p:nvSpPr>
        <p:spPr>
          <a:xfrm>
            <a:off x="1066680" y="1645920"/>
            <a:ext cx="1874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Dashboard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31" name="TextBox 13"/>
          <p:cNvSpPr/>
          <p:nvPr/>
        </p:nvSpPr>
        <p:spPr>
          <a:xfrm>
            <a:off x="609480" y="2194560"/>
            <a:ext cx="233136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Panel con KPIs en tiempo real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Gráficos: expedientes por estado,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carga de trabajo, tiempo medio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Tasa de aprobación / rechazo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32" name="Rounded Rectangle 14"/>
          <p:cNvSpPr/>
          <p:nvPr/>
        </p:nvSpPr>
        <p:spPr>
          <a:xfrm>
            <a:off x="3306960" y="1463040"/>
            <a:ext cx="269712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Rectangle 15"/>
          <p:cNvSpPr/>
          <p:nvPr/>
        </p:nvSpPr>
        <p:spPr>
          <a:xfrm>
            <a:off x="3306960" y="1463040"/>
            <a:ext cx="269712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4" name="Oval 16"/>
          <p:cNvSpPr/>
          <p:nvPr/>
        </p:nvSpPr>
        <p:spPr>
          <a:xfrm>
            <a:off x="3489840" y="1645920"/>
            <a:ext cx="319680" cy="3196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📋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35" name="TextBox 17"/>
          <p:cNvSpPr/>
          <p:nvPr/>
        </p:nvSpPr>
        <p:spPr>
          <a:xfrm>
            <a:off x="3947040" y="1645920"/>
            <a:ext cx="1874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Gestión Casos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36" name="TextBox 18"/>
          <p:cNvSpPr/>
          <p:nvPr/>
        </p:nvSpPr>
        <p:spPr>
          <a:xfrm>
            <a:off x="3489840" y="2194560"/>
            <a:ext cx="23313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Lista de expedientes con filtros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Detalle completo del caso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Resolución de tareas BPMN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Asignación a usuarios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Historial de eventos + timeline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37" name="Rounded Rectangle 19"/>
          <p:cNvSpPr/>
          <p:nvPr/>
        </p:nvSpPr>
        <p:spPr>
          <a:xfrm>
            <a:off x="6187320" y="1463040"/>
            <a:ext cx="269712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8" name="Rectangle 20"/>
          <p:cNvSpPr/>
          <p:nvPr/>
        </p:nvSpPr>
        <p:spPr>
          <a:xfrm>
            <a:off x="6187320" y="1463040"/>
            <a:ext cx="269712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Oval 21"/>
          <p:cNvSpPr/>
          <p:nvPr/>
        </p:nvSpPr>
        <p:spPr>
          <a:xfrm>
            <a:off x="6370200" y="1645920"/>
            <a:ext cx="319680" cy="3196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✅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40" name="TextBox 22"/>
          <p:cNvSpPr/>
          <p:nvPr/>
        </p:nvSpPr>
        <p:spPr>
          <a:xfrm>
            <a:off x="6827400" y="1645920"/>
            <a:ext cx="1874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Tareas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41" name="TextBox 23"/>
          <p:cNvSpPr/>
          <p:nvPr/>
        </p:nvSpPr>
        <p:spPr>
          <a:xfrm>
            <a:off x="6370200" y="2194560"/>
            <a:ext cx="23313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Bandeja de tareas pendientes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Filtro por tipo, prioridad, fecha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Acciones: aprobar, rechazar,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devolver a subsanación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SLA tracking con alertas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42" name="Rounded Rectangle 24"/>
          <p:cNvSpPr/>
          <p:nvPr/>
        </p:nvSpPr>
        <p:spPr>
          <a:xfrm>
            <a:off x="9067680" y="1463040"/>
            <a:ext cx="269712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Rectangle 25"/>
          <p:cNvSpPr/>
          <p:nvPr/>
        </p:nvSpPr>
        <p:spPr>
          <a:xfrm>
            <a:off x="9067680" y="1463040"/>
            <a:ext cx="2697120" cy="5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Oval 26"/>
          <p:cNvSpPr/>
          <p:nvPr/>
        </p:nvSpPr>
        <p:spPr>
          <a:xfrm>
            <a:off x="9250560" y="1645920"/>
            <a:ext cx="319680" cy="3196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⚙️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45" name="TextBox 27"/>
          <p:cNvSpPr/>
          <p:nvPr/>
        </p:nvSpPr>
        <p:spPr>
          <a:xfrm>
            <a:off x="9707760" y="1645920"/>
            <a:ext cx="1874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b5cf6"/>
                </a:solidFill>
                <a:latin typeface="Calibri"/>
              </a:rPr>
              <a:t>Administración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46" name="TextBox 28"/>
          <p:cNvSpPr/>
          <p:nvPr/>
        </p:nvSpPr>
        <p:spPr>
          <a:xfrm>
            <a:off x="9250560" y="2194560"/>
            <a:ext cx="23313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Gestión de usuarios y roles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Tipos de procedimiento + schemas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Notificaciones electrónicas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Contenido público (FAQ, normativa)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Reportes de transparencia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Auditoría y Observabilidad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449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Logs JSON estructurados · Métricas Prometheus · Dashboards Grafana · Correlation ID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450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1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3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5" name="Rounded Rectangle 9"/>
          <p:cNvSpPr/>
          <p:nvPr/>
        </p:nvSpPr>
        <p:spPr>
          <a:xfrm>
            <a:off x="548640" y="1463040"/>
            <a:ext cx="530316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Rectangle 10"/>
          <p:cNvSpPr/>
          <p:nvPr/>
        </p:nvSpPr>
        <p:spPr>
          <a:xfrm>
            <a:off x="822960" y="1463040"/>
            <a:ext cx="475452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7" name="Oval 11"/>
          <p:cNvSpPr/>
          <p:nvPr/>
        </p:nvSpPr>
        <p:spPr>
          <a:xfrm>
            <a:off x="822960" y="1645920"/>
            <a:ext cx="273960" cy="27396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TextBox 12"/>
          <p:cNvSpPr/>
          <p:nvPr/>
        </p:nvSpPr>
        <p:spPr>
          <a:xfrm>
            <a:off x="1234440" y="164592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📝 </a:t>
            </a: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Auditoría (security_audit_log)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59" name="TextBox 13"/>
          <p:cNvSpPr/>
          <p:nvPr/>
        </p:nvSpPr>
        <p:spPr>
          <a:xfrm>
            <a:off x="822960" y="2057400"/>
            <a:ext cx="475452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24 eventos categorizados: AUTH, WORKFLOW,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DOC, ENI, ADMIN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Campos: UUID, timestamp, userId, action,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resourceType, clientIp, result, details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Event-driven asíncrono: Service → Event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→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Listener (async) → Database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Inmutable: solo INSERT, nunca UPDATE/DELETE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60" name="Rounded Rectangle 14"/>
          <p:cNvSpPr/>
          <p:nvPr/>
        </p:nvSpPr>
        <p:spPr>
          <a:xfrm>
            <a:off x="6217920" y="1463040"/>
            <a:ext cx="530316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1" name="Rectangle 15"/>
          <p:cNvSpPr/>
          <p:nvPr/>
        </p:nvSpPr>
        <p:spPr>
          <a:xfrm>
            <a:off x="6492240" y="1463040"/>
            <a:ext cx="4754520" cy="36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Oval 16"/>
          <p:cNvSpPr/>
          <p:nvPr/>
        </p:nvSpPr>
        <p:spPr>
          <a:xfrm>
            <a:off x="6492240" y="1645920"/>
            <a:ext cx="273960" cy="27396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TextBox 17"/>
          <p:cNvSpPr/>
          <p:nvPr/>
        </p:nvSpPr>
        <p:spPr>
          <a:xfrm>
            <a:off x="6903720" y="1645920"/>
            <a:ext cx="4388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📊 </a:t>
            </a: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Stack de Observabilidad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64" name="TextBox 18"/>
          <p:cNvSpPr/>
          <p:nvPr/>
        </p:nvSpPr>
        <p:spPr>
          <a:xfrm>
            <a:off x="6492240" y="2057400"/>
            <a:ext cx="475452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Loki 3.0 — Agregación de logs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Promtail — Recolección Docker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Grafana 11 — Dashboards + alertas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Prometheus 2.53 — Métricas JVM/HTTP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cAdvisor — Métricas contenedores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Logback JSON — Logs estructurados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Correlation ID transversal en todo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65" name="Rounded Rectangle 19"/>
          <p:cNvSpPr/>
          <p:nvPr/>
        </p:nvSpPr>
        <p:spPr>
          <a:xfrm>
            <a:off x="548640" y="4206240"/>
            <a:ext cx="1097244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Rectangle 20"/>
          <p:cNvSpPr/>
          <p:nvPr/>
        </p:nvSpPr>
        <p:spPr>
          <a:xfrm>
            <a:off x="822960" y="4206240"/>
            <a:ext cx="10423800" cy="36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Oval 21"/>
          <p:cNvSpPr/>
          <p:nvPr/>
        </p:nvSpPr>
        <p:spPr>
          <a:xfrm>
            <a:off x="822960" y="4389120"/>
            <a:ext cx="273960" cy="273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8" name="TextBox 22"/>
          <p:cNvSpPr/>
          <p:nvPr/>
        </p:nvSpPr>
        <p:spPr>
          <a:xfrm>
            <a:off x="1234440" y="438912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🎯 </a:t>
            </a: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Métricas y Alertas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69" name="TextBox 23"/>
          <p:cNvSpPr/>
          <p:nvPr/>
        </p:nvSpPr>
        <p:spPr>
          <a:xfrm>
            <a:off x="822960" y="4800600"/>
            <a:ext cx="10423800" cy="8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Endpoint /actuator/prometheus: métricas JVM, HTTP (contadores, timers), HikariCP pool, Caffeine cache hit ratio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Dashboards Grafana: estado servicios, latencia endpoints (P50/P95/P99), tasa error 5xx, uso BD, colas mailing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Alertas configurables: caída de servicio, pico errores 5xx, latencia P95 &gt; 1s, pool conexiones BD crítico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Correlation ID (x-correlation-id) en todas las respuestas API para trazabilidad extremo a extremo</a:t>
            </a:r>
            <a:endParaRPr b="0" lang="es-E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Calidad y Testing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472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Cobertura total ~86% · Domain 100% · Pirámide multi-capa · Quality Gates CI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473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4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6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7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8" name="Rounded Rectangle 9"/>
          <p:cNvSpPr/>
          <p:nvPr/>
        </p:nvSpPr>
        <p:spPr>
          <a:xfrm>
            <a:off x="548640" y="1463040"/>
            <a:ext cx="3474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9" name="Rectangle 10"/>
          <p:cNvSpPr/>
          <p:nvPr/>
        </p:nvSpPr>
        <p:spPr>
          <a:xfrm>
            <a:off x="822960" y="1463040"/>
            <a:ext cx="292572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0" name="Oval 11"/>
          <p:cNvSpPr/>
          <p:nvPr/>
        </p:nvSpPr>
        <p:spPr>
          <a:xfrm>
            <a:off x="822960" y="1645920"/>
            <a:ext cx="273960" cy="27396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1" name="TextBox 12"/>
          <p:cNvSpPr/>
          <p:nvPr/>
        </p:nvSpPr>
        <p:spPr>
          <a:xfrm>
            <a:off x="1234440" y="1645920"/>
            <a:ext cx="2559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📈 </a:t>
            </a:r>
            <a:r>
              <a:rPr b="1" lang="en-US" sz="1400" spc="-1" strike="noStrike">
                <a:solidFill>
                  <a:srgbClr val="3b82f6"/>
                </a:solidFill>
                <a:latin typeface="Calibri"/>
              </a:rPr>
              <a:t>Cobertura Actual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82" name="TextBox 13"/>
          <p:cNvSpPr/>
          <p:nvPr/>
        </p:nvSpPr>
        <p:spPr>
          <a:xfrm>
            <a:off x="822960" y="2057400"/>
            <a:ext cx="2925720" cy="16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Backend: 87.42%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Domain Model: 100%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Frontend Ciudadano: 83.18%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Backoffice: 87.8%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Target: domain 100%,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resto ≥ 80%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Fallo CI si no se cumple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83" name="Rounded Rectangle 14"/>
          <p:cNvSpPr/>
          <p:nvPr/>
        </p:nvSpPr>
        <p:spPr>
          <a:xfrm>
            <a:off x="4297680" y="1463040"/>
            <a:ext cx="3474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4" name="Rectangle 15"/>
          <p:cNvSpPr/>
          <p:nvPr/>
        </p:nvSpPr>
        <p:spPr>
          <a:xfrm>
            <a:off x="4572000" y="1463040"/>
            <a:ext cx="2925720" cy="36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5" name="Oval 16"/>
          <p:cNvSpPr/>
          <p:nvPr/>
        </p:nvSpPr>
        <p:spPr>
          <a:xfrm>
            <a:off x="4572000" y="1645920"/>
            <a:ext cx="273960" cy="27396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6" name="TextBox 17"/>
          <p:cNvSpPr/>
          <p:nvPr/>
        </p:nvSpPr>
        <p:spPr>
          <a:xfrm>
            <a:off x="4983480" y="1645920"/>
            <a:ext cx="2559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🧪 </a:t>
            </a:r>
            <a:r>
              <a:rPr b="1" lang="en-US" sz="1400" spc="-1" strike="noStrike">
                <a:solidFill>
                  <a:srgbClr val="22c55e"/>
                </a:solidFill>
                <a:latin typeface="Calibri"/>
              </a:rPr>
              <a:t>Frameworks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87" name="TextBox 18"/>
          <p:cNvSpPr/>
          <p:nvPr/>
        </p:nvSpPr>
        <p:spPr>
          <a:xfrm>
            <a:off x="4572000" y="2057400"/>
            <a:ext cx="292572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JUnit 5 + Mockito (backend)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Testcontainers (PostgreSQL)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JaCoCo + Checkstyle gates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Jasmine + Karma (frontend)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Playwright (E2E)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k6 (performance testing)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SonarJS + ESLint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88" name="Rounded Rectangle 19"/>
          <p:cNvSpPr/>
          <p:nvPr/>
        </p:nvSpPr>
        <p:spPr>
          <a:xfrm>
            <a:off x="8046720" y="1463040"/>
            <a:ext cx="3474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9" name="Rectangle 20"/>
          <p:cNvSpPr/>
          <p:nvPr/>
        </p:nvSpPr>
        <p:spPr>
          <a:xfrm>
            <a:off x="8321040" y="1463040"/>
            <a:ext cx="2925720" cy="36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0" name="Oval 21"/>
          <p:cNvSpPr/>
          <p:nvPr/>
        </p:nvSpPr>
        <p:spPr>
          <a:xfrm>
            <a:off x="8321040" y="1645920"/>
            <a:ext cx="273960" cy="273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Segoe UI Emoji"/>
              </a:rPr>
              <a:t>✅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91" name="TextBox 22"/>
          <p:cNvSpPr/>
          <p:nvPr/>
        </p:nvSpPr>
        <p:spPr>
          <a:xfrm>
            <a:off x="8732520" y="1645920"/>
            <a:ext cx="2559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✅ </a:t>
            </a: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Quality Gates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492" name="TextBox 23"/>
          <p:cNvSpPr/>
          <p:nvPr/>
        </p:nvSpPr>
        <p:spPr>
          <a:xfrm>
            <a:off x="8321040" y="2057400"/>
            <a:ext cx="292572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1. Lint / formato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2. Unit + Integration tests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3. Cobertura ≥ thresholds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4. Tests autorización RBAC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5. Eventos auditoría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18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6. Validación ENIDOC XSD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493" name="Rectangle 24"/>
          <p:cNvSpPr/>
          <p:nvPr/>
        </p:nvSpPr>
        <p:spPr>
          <a:xfrm>
            <a:off x="548640" y="4114800"/>
            <a:ext cx="10972440" cy="13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4" name="TextBox 25"/>
          <p:cNvSpPr/>
          <p:nvPr/>
        </p:nvSpPr>
        <p:spPr>
          <a:xfrm>
            <a:off x="548640" y="4297680"/>
            <a:ext cx="1097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11a33"/>
                </a:solidFill>
                <a:latin typeface="Calibri"/>
              </a:rPr>
              <a:t>Pipeline CI/CD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495" name="TextBox 26"/>
          <p:cNvSpPr/>
          <p:nvPr/>
        </p:nvSpPr>
        <p:spPr>
          <a:xfrm>
            <a:off x="548640" y="4663440"/>
            <a:ext cx="109724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Compilación → Tests → Quality Gates → Build Docker Multi-stage → Deploy → Smoke Tests</a:t>
            </a:r>
            <a:br>
              <a:rPr sz="1200"/>
            </a:b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Imágenes: eclipse-temurin:17-jre (backend), nginx:1.25-alpine (frontends)</a:t>
            </a:r>
            <a:br>
              <a:rPr sz="1200"/>
            </a:b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LibreOffce empaquetado DENTRO de la imagen backend (no servicio separado)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7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Infraestructura y Despliegue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498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Docker Compose · nginx multi-subdominio · SSL Arsys Sectigo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499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0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1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2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3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4" name="Rounded Rectangle 9"/>
          <p:cNvSpPr/>
          <p:nvPr/>
        </p:nvSpPr>
        <p:spPr>
          <a:xfrm>
            <a:off x="457200" y="1463040"/>
            <a:ext cx="347436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5" name="Rectangle 10"/>
          <p:cNvSpPr/>
          <p:nvPr/>
        </p:nvSpPr>
        <p:spPr>
          <a:xfrm>
            <a:off x="457200" y="1463040"/>
            <a:ext cx="347436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6" name="Oval 11"/>
          <p:cNvSpPr/>
          <p:nvPr/>
        </p:nvSpPr>
        <p:spPr>
          <a:xfrm>
            <a:off x="640080" y="1645920"/>
            <a:ext cx="319680" cy="31968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🌐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507" name="TextBox 12"/>
          <p:cNvSpPr/>
          <p:nvPr/>
        </p:nvSpPr>
        <p:spPr>
          <a:xfrm>
            <a:off x="1097280" y="1645920"/>
            <a:ext cx="2651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3b82f6"/>
                </a:solidFill>
                <a:latin typeface="Calibri"/>
              </a:rPr>
              <a:t>Subdominios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508" name="TextBox 13"/>
          <p:cNvSpPr/>
          <p:nvPr/>
        </p:nvSpPr>
        <p:spPr>
          <a:xfrm>
            <a:off x="640080" y="2194560"/>
            <a:ext cx="3108600" cy="15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sede.nbpdev.es → Frontend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tramitador.nbpdev.es → Backoffice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api.nbpdev.es → Backend API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grafana.nbpdev.es → Grafana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prometheus.nbpdev.es → Prometheus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loki.nbpdev.es → Loki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mail.nbpdev.es → Mailpit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509" name="Rounded Rectangle 14"/>
          <p:cNvSpPr/>
          <p:nvPr/>
        </p:nvSpPr>
        <p:spPr>
          <a:xfrm>
            <a:off x="4206240" y="1463040"/>
            <a:ext cx="347436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0" name="Rectangle 15"/>
          <p:cNvSpPr/>
          <p:nvPr/>
        </p:nvSpPr>
        <p:spPr>
          <a:xfrm>
            <a:off x="4206240" y="1463040"/>
            <a:ext cx="347436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1" name="Oval 16"/>
          <p:cNvSpPr/>
          <p:nvPr/>
        </p:nvSpPr>
        <p:spPr>
          <a:xfrm>
            <a:off x="4389120" y="1645920"/>
            <a:ext cx="319680" cy="319680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🔒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512" name="TextBox 17"/>
          <p:cNvSpPr/>
          <p:nvPr/>
        </p:nvSpPr>
        <p:spPr>
          <a:xfrm>
            <a:off x="4846320" y="1645920"/>
            <a:ext cx="2651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22c55e"/>
                </a:solidFill>
                <a:latin typeface="Calibri"/>
              </a:rPr>
              <a:t>Seguridad Red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513" name="TextBox 18"/>
          <p:cNvSpPr/>
          <p:nvPr/>
        </p:nvSpPr>
        <p:spPr>
          <a:xfrm>
            <a:off x="4389120" y="2194560"/>
            <a:ext cx="310860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Red bridge aislada tfm-network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SSL termination en nginx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TLS 1.2 / 1.3 ciphers seguros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HSTS preload + security headers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CORS origenes conocidos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CSP estricta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514" name="Rounded Rectangle 19"/>
          <p:cNvSpPr/>
          <p:nvPr/>
        </p:nvSpPr>
        <p:spPr>
          <a:xfrm>
            <a:off x="7955280" y="1463040"/>
            <a:ext cx="3474360" cy="292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5" name="Rectangle 20"/>
          <p:cNvSpPr/>
          <p:nvPr/>
        </p:nvSpPr>
        <p:spPr>
          <a:xfrm>
            <a:off x="7955280" y="1463040"/>
            <a:ext cx="347436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6" name="Oval 21"/>
          <p:cNvSpPr/>
          <p:nvPr/>
        </p:nvSpPr>
        <p:spPr>
          <a:xfrm>
            <a:off x="8138160" y="1645920"/>
            <a:ext cx="319680" cy="3196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ffffff"/>
                </a:solidFill>
                <a:latin typeface="Segoe UI Emoji"/>
              </a:rPr>
              <a:t>💾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517" name="TextBox 22"/>
          <p:cNvSpPr/>
          <p:nvPr/>
        </p:nvSpPr>
        <p:spPr>
          <a:xfrm>
            <a:off x="8595360" y="1645920"/>
            <a:ext cx="2651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</a:rPr>
              <a:t>Volúmenes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518" name="TextBox 23"/>
          <p:cNvSpPr/>
          <p:nvPr/>
        </p:nvSpPr>
        <p:spPr>
          <a:xfrm>
            <a:off x="8138160" y="2194560"/>
            <a:ext cx="310860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postgres-data — Datos BD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loki-data — Índices logs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grafana-data — Dashboards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prometheus-data — Métricas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nginx-cache — Assets</a:t>
            </a:r>
            <a:endParaRPr b="0" lang="es-E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29"/>
              </a:spcAft>
              <a:buNone/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▸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Storage documentos local</a:t>
            </a:r>
            <a:endParaRPr b="0" lang="es-ES" sz="1100" spc="-1" strike="noStrike">
              <a:latin typeface="Arial"/>
            </a:endParaRPr>
          </a:p>
        </p:txBody>
      </p:sp>
      <p:sp>
        <p:nvSpPr>
          <p:cNvPr id="519" name="TextBox 24"/>
          <p:cNvSpPr/>
          <p:nvPr/>
        </p:nvSpPr>
        <p:spPr>
          <a:xfrm>
            <a:off x="548640" y="4754880"/>
            <a:ext cx="10972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Entornos: dev (nbpdev.es) · pre · pro · Despliegue con docker-compose up -d sobre VPS Ubuntu</a:t>
            </a:r>
            <a:br>
              <a:rPr sz="1200"/>
            </a:br>
            <a:r>
              <a:rPr b="0" lang="en-US" sz="1200" spc="-1" strike="noStrike">
                <a:solidFill>
                  <a:srgbClr val="64748b"/>
                </a:solidFill>
                <a:latin typeface="Calibri"/>
              </a:rPr>
              <a:t>Certificados SSL: Arsys Sectigo · Caché nginx con immutable 1 año para assets estáticos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1" name="TextBox 2"/>
          <p:cNvSpPr/>
          <p:nvPr/>
        </p:nvSpPr>
        <p:spPr>
          <a:xfrm>
            <a:off x="548640" y="365760"/>
            <a:ext cx="109724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11a33"/>
                </a:solidFill>
                <a:latin typeface="Calibri"/>
              </a:rPr>
              <a:t>Métricas del Proyecto</a:t>
            </a:r>
            <a:endParaRPr b="0" lang="es-ES" sz="3200" spc="-1" strike="noStrike">
              <a:latin typeface="Arial"/>
            </a:endParaRPr>
          </a:p>
        </p:txBody>
      </p:sp>
      <p:sp>
        <p:nvSpPr>
          <p:cNvPr id="522" name="TextBox 3"/>
          <p:cNvSpPr/>
          <p:nvPr/>
        </p:nvSpPr>
        <p:spPr>
          <a:xfrm>
            <a:off x="548640" y="91440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Datos clave del código base</a:t>
            </a:r>
            <a:endParaRPr b="0" lang="es-ES" sz="1300" spc="-1" strike="noStrike">
              <a:latin typeface="Arial"/>
            </a:endParaRPr>
          </a:p>
        </p:txBody>
      </p:sp>
      <p:sp>
        <p:nvSpPr>
          <p:cNvPr id="523" name="Oval 4"/>
          <p:cNvSpPr/>
          <p:nvPr/>
        </p:nvSpPr>
        <p:spPr>
          <a:xfrm>
            <a:off x="11917440" y="27432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4" name="Oval 5"/>
          <p:cNvSpPr/>
          <p:nvPr/>
        </p:nvSpPr>
        <p:spPr>
          <a:xfrm>
            <a:off x="11780280" y="41148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5" name="Oval 6"/>
          <p:cNvSpPr/>
          <p:nvPr/>
        </p:nvSpPr>
        <p:spPr>
          <a:xfrm>
            <a:off x="11643120" y="54864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6" name="Oval 7"/>
          <p:cNvSpPr/>
          <p:nvPr/>
        </p:nvSpPr>
        <p:spPr>
          <a:xfrm>
            <a:off x="11505960" y="68580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7" name="Oval 8"/>
          <p:cNvSpPr/>
          <p:nvPr/>
        </p:nvSpPr>
        <p:spPr>
          <a:xfrm>
            <a:off x="11368800" y="822960"/>
            <a:ext cx="54360" cy="54360"/>
          </a:xfrm>
          <a:prstGeom prst="ellipse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8" name="Rounded Rectangle 9"/>
          <p:cNvSpPr/>
          <p:nvPr/>
        </p:nvSpPr>
        <p:spPr>
          <a:xfrm>
            <a:off x="47232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9" name="Rectangle 10"/>
          <p:cNvSpPr/>
          <p:nvPr/>
        </p:nvSpPr>
        <p:spPr>
          <a:xfrm>
            <a:off x="472320" y="2286000"/>
            <a:ext cx="132552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0" name="TextBox 11"/>
          <p:cNvSpPr/>
          <p:nvPr/>
        </p:nvSpPr>
        <p:spPr>
          <a:xfrm>
            <a:off x="518040" y="2651760"/>
            <a:ext cx="1234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3b82f6"/>
                </a:solidFill>
                <a:latin typeface="Calibri"/>
              </a:rPr>
              <a:t>11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31" name="TextBox 12"/>
          <p:cNvSpPr/>
          <p:nvPr/>
        </p:nvSpPr>
        <p:spPr>
          <a:xfrm>
            <a:off x="518040" y="3657600"/>
            <a:ext cx="12340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Servicios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Docker Compose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32" name="Rounded Rectangle 13"/>
          <p:cNvSpPr/>
          <p:nvPr/>
        </p:nvSpPr>
        <p:spPr>
          <a:xfrm>
            <a:off x="188964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3" name="Rectangle 14"/>
          <p:cNvSpPr/>
          <p:nvPr/>
        </p:nvSpPr>
        <p:spPr>
          <a:xfrm>
            <a:off x="1889640" y="2286000"/>
            <a:ext cx="1325520" cy="543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4" name="TextBox 15"/>
          <p:cNvSpPr/>
          <p:nvPr/>
        </p:nvSpPr>
        <p:spPr>
          <a:xfrm>
            <a:off x="1935360" y="2651760"/>
            <a:ext cx="123408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22c55e"/>
                </a:solidFill>
                <a:latin typeface="Calibri"/>
              </a:rPr>
              <a:t>78,000+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35" name="TextBox 16"/>
          <p:cNvSpPr/>
          <p:nvPr/>
        </p:nvSpPr>
        <p:spPr>
          <a:xfrm>
            <a:off x="193536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Líneas de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código total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36" name="Rounded Rectangle 17"/>
          <p:cNvSpPr/>
          <p:nvPr/>
        </p:nvSpPr>
        <p:spPr>
          <a:xfrm>
            <a:off x="330696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7" name="Rectangle 18"/>
          <p:cNvSpPr/>
          <p:nvPr/>
        </p:nvSpPr>
        <p:spPr>
          <a:xfrm>
            <a:off x="3306960" y="2286000"/>
            <a:ext cx="1325520" cy="5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8" name="TextBox 19"/>
          <p:cNvSpPr/>
          <p:nvPr/>
        </p:nvSpPr>
        <p:spPr>
          <a:xfrm>
            <a:off x="3352680" y="2651760"/>
            <a:ext cx="1234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59e0b"/>
                </a:solidFill>
                <a:latin typeface="Calibri"/>
              </a:rPr>
              <a:t>26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39" name="TextBox 20"/>
          <p:cNvSpPr/>
          <p:nvPr/>
        </p:nvSpPr>
        <p:spPr>
          <a:xfrm>
            <a:off x="335268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Entidades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JPA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40" name="Rounded Rectangle 21"/>
          <p:cNvSpPr/>
          <p:nvPr/>
        </p:nvSpPr>
        <p:spPr>
          <a:xfrm>
            <a:off x="472428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1" name="Rectangle 22"/>
          <p:cNvSpPr/>
          <p:nvPr/>
        </p:nvSpPr>
        <p:spPr>
          <a:xfrm>
            <a:off x="4724280" y="2286000"/>
            <a:ext cx="1325520" cy="5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2" name="TextBox 23"/>
          <p:cNvSpPr/>
          <p:nvPr/>
        </p:nvSpPr>
        <p:spPr>
          <a:xfrm>
            <a:off x="4770000" y="2651760"/>
            <a:ext cx="1234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8b5cf6"/>
                </a:solidFill>
                <a:latin typeface="Calibri"/>
              </a:rPr>
              <a:t>25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43" name="TextBox 24"/>
          <p:cNvSpPr/>
          <p:nvPr/>
        </p:nvSpPr>
        <p:spPr>
          <a:xfrm>
            <a:off x="477000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Servicios de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aplicación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44" name="Rounded Rectangle 25"/>
          <p:cNvSpPr/>
          <p:nvPr/>
        </p:nvSpPr>
        <p:spPr>
          <a:xfrm>
            <a:off x="614160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5" name="Rectangle 26"/>
          <p:cNvSpPr/>
          <p:nvPr/>
        </p:nvSpPr>
        <p:spPr>
          <a:xfrm>
            <a:off x="6141600" y="2286000"/>
            <a:ext cx="1325520" cy="54360"/>
          </a:xfrm>
          <a:prstGeom prst="rect">
            <a:avLst/>
          </a:prstGeom>
          <a:solidFill>
            <a:srgbClr val="dd30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6" name="TextBox 27"/>
          <p:cNvSpPr/>
          <p:nvPr/>
        </p:nvSpPr>
        <p:spPr>
          <a:xfrm>
            <a:off x="6187320" y="2651760"/>
            <a:ext cx="1234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dd3030"/>
                </a:solidFill>
                <a:latin typeface="Calibri"/>
              </a:rPr>
              <a:t>16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47" name="TextBox 28"/>
          <p:cNvSpPr/>
          <p:nvPr/>
        </p:nvSpPr>
        <p:spPr>
          <a:xfrm>
            <a:off x="618732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Controladores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REST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48" name="Rounded Rectangle 29"/>
          <p:cNvSpPr/>
          <p:nvPr/>
        </p:nvSpPr>
        <p:spPr>
          <a:xfrm>
            <a:off x="755892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9" name="Rectangle 30"/>
          <p:cNvSpPr/>
          <p:nvPr/>
        </p:nvSpPr>
        <p:spPr>
          <a:xfrm>
            <a:off x="7558920" y="2286000"/>
            <a:ext cx="1325520" cy="54360"/>
          </a:xfrm>
          <a:prstGeom prst="rect">
            <a:avLst/>
          </a:prstGeom>
          <a:solidFill>
            <a:srgbClr val="009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0" name="TextBox 31"/>
          <p:cNvSpPr/>
          <p:nvPr/>
        </p:nvSpPr>
        <p:spPr>
          <a:xfrm>
            <a:off x="7604640" y="2651760"/>
            <a:ext cx="1234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9000"/>
                </a:solidFill>
                <a:latin typeface="Calibri"/>
              </a:rPr>
              <a:t>19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51" name="TextBox 32"/>
          <p:cNvSpPr/>
          <p:nvPr/>
        </p:nvSpPr>
        <p:spPr>
          <a:xfrm>
            <a:off x="760464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ADRs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documentados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52" name="Rounded Rectangle 33"/>
          <p:cNvSpPr/>
          <p:nvPr/>
        </p:nvSpPr>
        <p:spPr>
          <a:xfrm>
            <a:off x="897624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3" name="Rectangle 34"/>
          <p:cNvSpPr/>
          <p:nvPr/>
        </p:nvSpPr>
        <p:spPr>
          <a:xfrm>
            <a:off x="8976240" y="2286000"/>
            <a:ext cx="1325520" cy="5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4" name="TextBox 35"/>
          <p:cNvSpPr/>
          <p:nvPr/>
        </p:nvSpPr>
        <p:spPr>
          <a:xfrm>
            <a:off x="9021960" y="2651760"/>
            <a:ext cx="123408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3b82f6"/>
                </a:solidFill>
                <a:latin typeface="Calibri"/>
              </a:rPr>
              <a:t>~86%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55" name="TextBox 36"/>
          <p:cNvSpPr/>
          <p:nvPr/>
        </p:nvSpPr>
        <p:spPr>
          <a:xfrm>
            <a:off x="902196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Cobertura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de tests</a:t>
            </a:r>
            <a:endParaRPr b="0" lang="es-ES" sz="1000" spc="-1" strike="noStrike">
              <a:latin typeface="Arial"/>
            </a:endParaRPr>
          </a:p>
        </p:txBody>
      </p:sp>
      <p:sp>
        <p:nvSpPr>
          <p:cNvPr id="556" name="Rounded Rectangle 37"/>
          <p:cNvSpPr/>
          <p:nvPr/>
        </p:nvSpPr>
        <p:spPr>
          <a:xfrm>
            <a:off x="10393560" y="2286000"/>
            <a:ext cx="1325520" cy="255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7" name="Rectangle 38"/>
          <p:cNvSpPr/>
          <p:nvPr/>
        </p:nvSpPr>
        <p:spPr>
          <a:xfrm>
            <a:off x="10393560" y="2286000"/>
            <a:ext cx="1325520" cy="5436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8" name="TextBox 39"/>
          <p:cNvSpPr/>
          <p:nvPr/>
        </p:nvSpPr>
        <p:spPr>
          <a:xfrm>
            <a:off x="10439280" y="2651760"/>
            <a:ext cx="12340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6b6d4"/>
                </a:solidFill>
                <a:latin typeface="Calibri"/>
              </a:rPr>
              <a:t>5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559" name="TextBox 40"/>
          <p:cNvSpPr/>
          <p:nvPr/>
        </p:nvSpPr>
        <p:spPr>
          <a:xfrm>
            <a:off x="10439280" y="3657600"/>
            <a:ext cx="12340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Idiomas</a:t>
            </a:r>
            <a:br>
              <a:rPr sz="1000"/>
            </a:b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soportados</a:t>
            </a:r>
            <a:endParaRPr b="0" lang="es-E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Oval 1"/>
          <p:cNvSpPr/>
          <p:nvPr/>
        </p:nvSpPr>
        <p:spPr>
          <a:xfrm>
            <a:off x="9905760" y="-914400"/>
            <a:ext cx="3657240" cy="3657240"/>
          </a:xfrm>
          <a:prstGeom prst="ellipse">
            <a:avLst/>
          </a:prstGeom>
          <a:solidFill>
            <a:srgbClr val="1522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1" name="Oval 2"/>
          <p:cNvSpPr/>
          <p:nvPr/>
        </p:nvSpPr>
        <p:spPr>
          <a:xfrm>
            <a:off x="-914400" y="4572000"/>
            <a:ext cx="3200040" cy="3200040"/>
          </a:xfrm>
          <a:prstGeom prst="ellipse">
            <a:avLst/>
          </a:prstGeom>
          <a:solidFill>
            <a:srgbClr val="1522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2" name="Rectangle 3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3" name="Rectangle 4"/>
          <p:cNvSpPr/>
          <p:nvPr/>
        </p:nvSpPr>
        <p:spPr>
          <a:xfrm>
            <a:off x="548640" y="2560320"/>
            <a:ext cx="228564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4" name="TextBox 5"/>
          <p:cNvSpPr/>
          <p:nvPr/>
        </p:nvSpPr>
        <p:spPr>
          <a:xfrm>
            <a:off x="731520" y="1097280"/>
            <a:ext cx="10058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Conclusiones</a:t>
            </a:r>
            <a:endParaRPr b="0" lang="es-ES" sz="3800" spc="-1" strike="noStrike">
              <a:latin typeface="Arial"/>
            </a:endParaRPr>
          </a:p>
        </p:txBody>
      </p:sp>
      <p:sp>
        <p:nvSpPr>
          <p:cNvPr id="565" name="TextBox 6"/>
          <p:cNvSpPr/>
          <p:nvPr/>
        </p:nvSpPr>
        <p:spPr>
          <a:xfrm>
            <a:off x="731520" y="2926080"/>
            <a:ext cx="10515240" cy="34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✅  </a:t>
            </a: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Plataforma completa de gestión de expedientes electrónicos cumpliendo ENS (Nivel Medio), ENI y eIDAS.</a:t>
            </a: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🏗️  </a:t>
            </a: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Arquitectura hexagonal con separación clara de responsabilidades entre dominio e infraestructura.</a:t>
            </a: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🔏  </a:t>
            </a: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Integración de firma electrónica CMS/PKCS#7 con pipeline completo de documentos.</a:t>
            </a: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⚙️  </a:t>
            </a: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Workflow BPMN automatizado con Flowable 7: SLA, escalado, amendment loop y paralelismo.</a:t>
            </a: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📊  </a:t>
            </a:r>
            <a:r>
              <a:rPr b="0" lang="en-US" sz="1700" spc="-1" strike="noStrike">
                <a:solidFill>
                  <a:srgbClr val="f1f5f9"/>
                </a:solidFill>
                <a:latin typeface="Calibri"/>
              </a:rPr>
              <a:t>Observabilidad completa: logs JSON, métricas Prometheus, dashboards Grafana para trazabilidad ENS.</a:t>
            </a:r>
            <a:endParaRPr b="0" lang="es-E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Oval 1"/>
          <p:cNvSpPr/>
          <p:nvPr/>
        </p:nvSpPr>
        <p:spPr>
          <a:xfrm>
            <a:off x="9448560" y="-1371600"/>
            <a:ext cx="4571640" cy="4571640"/>
          </a:xfrm>
          <a:prstGeom prst="ellipse">
            <a:avLst/>
          </a:prstGeom>
          <a:solidFill>
            <a:srgbClr val="1522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7" name="Rectangle 2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8" name="Rectangle 3"/>
          <p:cNvSpPr/>
          <p:nvPr/>
        </p:nvSpPr>
        <p:spPr>
          <a:xfrm>
            <a:off x="548640" y="3657600"/>
            <a:ext cx="2285640" cy="36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9" name="TextBox 4"/>
          <p:cNvSpPr/>
          <p:nvPr/>
        </p:nvSpPr>
        <p:spPr>
          <a:xfrm>
            <a:off x="731520" y="2011680"/>
            <a:ext cx="100580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¡Gracias!</a:t>
            </a:r>
            <a:endParaRPr b="0" lang="es-ES" sz="5200" spc="-1" strike="noStrike">
              <a:latin typeface="Arial"/>
            </a:endParaRPr>
          </a:p>
        </p:txBody>
      </p:sp>
      <p:sp>
        <p:nvSpPr>
          <p:cNvPr id="570" name="TextBox 5"/>
          <p:cNvSpPr/>
          <p:nvPr/>
        </p:nvSpPr>
        <p:spPr>
          <a:xfrm>
            <a:off x="731520" y="4114800"/>
            <a:ext cx="10058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600" spc="-1" strike="noStrike">
                <a:solidFill>
                  <a:srgbClr val="60a5fa"/>
                </a:solidFill>
                <a:latin typeface="Calibri"/>
              </a:rPr>
              <a:t>Gracias por su atención</a:t>
            </a:r>
            <a:endParaRPr b="0" lang="es-ES" sz="2600" spc="-1" strike="noStrike">
              <a:latin typeface="Arial"/>
            </a:endParaRPr>
          </a:p>
        </p:txBody>
      </p:sp>
      <p:sp>
        <p:nvSpPr>
          <p:cNvPr id="571" name="TextBox 6"/>
          <p:cNvSpPr/>
          <p:nvPr/>
        </p:nvSpPr>
        <p:spPr>
          <a:xfrm>
            <a:off x="731520" y="4846320"/>
            <a:ext cx="10058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</a:rPr>
              <a:t>TFG Records Platform · Máster en desarrollo con IA</a:t>
            </a:r>
            <a:br>
              <a:rPr sz="1400"/>
            </a:br>
            <a:r>
              <a:rPr b="0" lang="en-US" sz="1400" spc="-1" strike="noStrike">
                <a:solidFill>
                  <a:srgbClr val="64748b"/>
                </a:solidFill>
                <a:latin typeface="Calibri"/>
              </a:rPr>
              <a:t>2026</a:t>
            </a:r>
            <a:endParaRPr b="0" lang="es-E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2026-07-02T21:06:36Z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